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EFEF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789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US Housing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0"/>
            <a:ext cx="8961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53657A"/>
                </a:solidFill>
              </a:defRPr>
            </a:pPr>
            <a:r>
              <a:t>Final report and Streamlit app defense</a:t>
            </a:r>
          </a:p>
          <a:p>
            <a:pPr>
              <a:spcAft>
                <a:spcPts val="800"/>
              </a:spcAft>
              <a:defRPr sz="2000">
                <a:solidFill>
                  <a:srgbClr val="53657A"/>
                </a:solidFill>
              </a:defRPr>
            </a:pPr>
            <a:r>
              <a:t>Data Mining and Machine Learning project</a:t>
            </a:r>
          </a:p>
          <a:p>
            <a:pPr>
              <a:spcAft>
                <a:spcPts val="800"/>
              </a:spcAft>
              <a:defRPr sz="2000">
                <a:solidFill>
                  <a:srgbClr val="53657A"/>
                </a:solidFill>
              </a:defRPr>
            </a:pPr>
            <a:r>
              <a:t>Ayoub Naouech and Rayen Belhadj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893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E8F0"/>
                </a:solidFill>
              </a:defRPr>
            </a:pPr>
            <a:r>
              <a:t>Data Mining and Machine Learning | Final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Presentation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Context, problem, and objectives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Dataset, preparation, and CRISP-DM methodology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Streamlit app screenshots and modules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Evaluation, diagnostics, OLAP, and paper-review evidence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Limitations, future work,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Project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The U.S. housing market connects household wealth, credit conditions, inflation, construction, and employment.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Housing prices react to demand, supply, income, mortgage rates, expectations, and timing.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The project converts raw housing and macroeconomic data into an interactive intelligence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Main question: how can data mining and machine learning analyze and predict U.S. housing-market trends?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Analytical challenge: housing variables interact in non-linear and time-dependent ways.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Communication challenge: model results must be understandable for non-technical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Analyze historical evolution of the Home Price Index.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Identify variables associated with U.S. housing-price behavior.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Train and compare machine learning models using reproducible metrics.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Build a Streamlit app for visualization, modeling, OLAP, export, and interpretation.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880360" cy="1143000"/>
          </a:xfrm>
          <a:prstGeom prst="round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9504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7324D"/>
                </a:solidFill>
              </a:defRPr>
            </a:pPr>
            <a:r>
              <a:t>Monthly observations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2880360" cy="1143000"/>
          </a:xfrm>
          <a:prstGeom prst="roundRect">
            <a:avLst/>
          </a:prstGeom>
          <a:solidFill>
            <a:srgbClr val="C35F1D"/>
          </a:solidFill>
          <a:ln>
            <a:solidFill>
              <a:srgbClr val="C35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89504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7324D"/>
                </a:solidFill>
              </a:defRPr>
            </a:pPr>
            <a:r>
              <a:t>Dataset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645920"/>
            <a:ext cx="2880360" cy="114300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2004-2024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889504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7324D"/>
                </a:solidFill>
              </a:defRPr>
            </a:pPr>
            <a:r>
              <a:t>Historical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3657A"/>
                </a:solidFill>
              </a:defRPr>
            </a:pPr>
            <a:r>
              <a:t>Target variable: Home_Price_Index.</a:t>
            </a:r>
          </a:p>
          <a:p>
            <a:pPr>
              <a:spcAft>
                <a:spcPts val="800"/>
              </a:spcAft>
              <a:defRPr sz="1700">
                <a:solidFill>
                  <a:srgbClr val="53657A"/>
                </a:solidFill>
              </a:defRPr>
            </a:pPr>
            <a:r>
              <a:t>Main variables: mortgage rate, interest rate, unemployment, inflation, permits, income, population, and sentiment.</a:t>
            </a:r>
          </a:p>
          <a:p>
            <a:pPr>
              <a:spcAft>
                <a:spcPts val="800"/>
              </a:spcAft>
              <a:defRPr sz="1700">
                <a:solidFill>
                  <a:srgbClr val="53657A"/>
                </a:solidFill>
              </a:defRPr>
            </a:pPr>
            <a:r>
              <a:t>The dataset supports both prediction and interpretation.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Data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Parse and sort the date column chronologically.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Convert numeric columns into model-ready values.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Check missing values and duplicate rows before modeling.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Create administration labels, lag features, rolling features, ratios, and percentage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CRISP-DM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Business understanding defines the housing problem.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Data understanding checks quality and temporal structure.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Data preparation builds usable analytical features.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Modeling and evaluation compare algorithms.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Deployment is delivered through Streamlit.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jec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400800" cy="365760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Data layer: loading, cleaning, validation, and features.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Analysis layer: EDA, correlations, OLAP, and period comparison.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Modeling layer: regression, classification, forecasting, and diagnostics.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Interpretation layer: paper review, conclusion, and export.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Streamlit App: Home And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10607040" cy="27444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Streamlit App: ML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_mode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10607040" cy="11434907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Streamlit App: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10607040" cy="12565529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Streamlit App: OLAP And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_o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10607040" cy="7208099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Streamlit App: Paper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_paper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400800" cy="3307976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Compares dashboard evidence with housing theory.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Explains rates, supply, demand, timing, and affordability together.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Makes the project academically stronger than a purely technical dashboard.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Streamlit App: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_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10607040" cy="2278634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Correlation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rel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400800" cy="3584448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Strong relationships appear around lagged HPI, smoothed HPI, and Median_Income.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Correlation supports interpretation but does not prove causality.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Housing prices are persistent and linked to broader economic context.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Model Evaluation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_evalu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400800" cy="2545161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Compared models include Linear Regression, Ridge, Random Forest, Gradient Boosting, Decision Tree, KNN, and SVR.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Best generated metrics: R2 = 0.999, RMSE = 0.797, MAE = 0.661.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Regression Metrics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Linear Regression: MAE 0.661, RMSE 0.797, R2 0.999, CV R2 0.994.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Ridge Regression: MAE 3.715, RMSE 4.162, R2 0.984.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Tree-based models perform weaker on the final chronological test period.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Evaluation must be time-aware, not based only on model popularity.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Fit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t_diagnostic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400800" cy="335280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Diagnostics compare train and test performance.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Large train-test gaps indicate weak generalization or overfitting risk.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Tree models struggle when the final period moves beyond the training range.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Actual Versus Predicted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tual_vs_predicte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400800" cy="3392424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The best model follows the chronological test period closely.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Lagged and smoothed price features explain the strong predictive result.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The visual is easier to defend than metrics alone.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OLAP Period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lap_perio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400800" cy="448056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Biden period has the highest average Home Price Index.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Biden period also has the highest average mortgage-rate pressure.</a:t>
            </a:r>
          </a:p>
          <a:p>
            <a:pPr>
              <a:spcAft>
                <a:spcPts val="800"/>
              </a:spcAft>
              <a:defRPr sz="1600">
                <a:solidFill>
                  <a:srgbClr val="53657A"/>
                </a:solidFill>
              </a:defRPr>
            </a:pPr>
            <a:r>
              <a:t>Prices and affordability pressure can rise together when supply and timing matter.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Paper Review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Housing prices are shaped by demand, financing conditions, supply, construction, income, and timing.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Higher mortgage rates reduce affordability, but prices may react slowly when supply is constrained.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The strongest conclusion is multi-factor interpretation rather than one-variable explanation.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Analytical impact: users understand which indicators move with housing prices.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Decision-support impact: users compare models, periods, OLAP segments, and scenarios.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Educational impact: the project demonstrates EDA, ML, forecasting, OLAP, paper review, and governance.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Limitations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National-level data hides regional differences between states and cities.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Forecasts are educational and should not be treated as financial advice.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Future work: regional datasets, live APIs, SHAP explainability, better chatbot grounding, monitoring, and authentication.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7F8C"/>
                </a:solidFill>
              </a:defRPr>
            </a:pPr>
            <a:r>
              <a:t>US HOUSING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Final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The report, poster, and app now tell one consistent story.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U.S. housing prices require theory, correlations, model evaluation, diagnostics, OLAP, and market context.</a:t>
            </a:r>
          </a:p>
          <a:p>
            <a:pPr>
              <a:spcAft>
                <a:spcPts val="800"/>
              </a:spcAft>
              <a:defRPr sz="1900">
                <a:solidFill>
                  <a:srgbClr val="53657A"/>
                </a:solidFill>
              </a:defRPr>
            </a:pPr>
            <a:r>
              <a:t>The Streamlit dashboard is a housing intelligence platform, not only a collection of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