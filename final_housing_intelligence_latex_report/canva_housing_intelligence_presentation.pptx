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bin" ContentType="application/vnd.openxmlformats-officedocument.presentationml.printerSettings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3333333" cy="7500000" type="wide"/>
  <p:notesSz cx="6858000" cy="9144000"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oject_pipeline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pp_home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pp_modeling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pp_evaluation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pp_olap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pp_paper_review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pp_governance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orrelation_results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odel_evaluation_results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t_diagnostics_results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ctual_vs_predicted_results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olap_period_results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94360" y="54864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400" b="1">
                <a:solidFill>
                  <a:srgbClr val="BDEFEF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94360" y="1234440"/>
            <a:ext cx="1024128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Aptos"/>
              </a:rPr>
              <a:t>US Housing Intelligence Platform</a:t>
            </a:r>
          </a:p>
        </p:txBody>
      </p:sp>
      <p:sp>
        <p:nvSpPr>
          <p:cNvPr id="2" name="Bullets"/>
          <p:cNvSpPr/>
          <p:nvPr/>
        </p:nvSpPr>
        <p:spPr>
          <a:xfrm>
            <a:off x="713232" y="2788920"/>
            <a:ext cx="8961120" cy="2194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Final report and Streamlit app defense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Data Mining and Machine Learning project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Ayoub Naouech and Rayen Belhadj</a:t>
            </a:r>
          </a:p>
        </p:txBody>
      </p:sp>
      <p:sp>
        <p:nvSpPr>
          <p:cNvPr id="1" name="Text"/>
          <p:cNvSpPr/>
          <p:nvPr/>
        </p:nvSpPr>
        <p:spPr>
          <a:xfrm>
            <a:off x="594360" y="589788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200">
                <a:solidFill>
                  <a:srgbClr val="DDE8F0"/>
                </a:solidFill>
                <a:latin typeface="Aptos"/>
              </a:rPr>
              <a:t>Data Mining and Machine Learning | Final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Presentation Roadmap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2" name="Bullets"/>
          <p:cNvSpPr/>
          <p:nvPr/>
        </p:nvSpPr>
        <p:spPr>
          <a:xfrm>
            <a:off x="868680" y="1600200"/>
            <a:ext cx="10241280" cy="4800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Context, problem, and objectives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Dataset, preparation, and CRISP-DM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Streamlit app screenshots and modules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Evaluation, diagnostics, OLAP, and paper-review evidence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Limitations, future work,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Project Context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2" name="Bullets"/>
          <p:cNvSpPr/>
          <p:nvPr/>
        </p:nvSpPr>
        <p:spPr>
          <a:xfrm>
            <a:off x="868680" y="1600200"/>
            <a:ext cx="10241280" cy="4800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Housing prices connect household wealth, credit conditions, inflation, construction, and employment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A useful analysis combines economic theory with data evidence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The project converts a macroeconomic dataset into an interactive intelligence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Problem Statement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2" name="Bullets"/>
          <p:cNvSpPr/>
          <p:nvPr/>
        </p:nvSpPr>
        <p:spPr>
          <a:xfrm>
            <a:off x="868680" y="1600200"/>
            <a:ext cx="10241280" cy="4800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How can data mining and machine learning analyze and predict U.S. housing-market trends?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The market is time-dependent and influenced by several interacting variables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The final result must be understandable for non-technical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Project Objectives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2" name="Bullets"/>
          <p:cNvSpPr/>
          <p:nvPr/>
        </p:nvSpPr>
        <p:spPr>
          <a:xfrm>
            <a:off x="868680" y="1600200"/>
            <a:ext cx="10241280" cy="4800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Analyze historical Home Price Index behavior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Identify indicators associated with housing-price movement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Compare models with reproducible metrics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Build a Streamlit app for visualization, modeling, OLAP, export, and interpretation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Dataset Overview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822960" y="1737360"/>
            <a:ext cx="2926080" cy="1188720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</p:spPr>
        <p:txBody>
          <a:bodyPr wrap="square" anchor="mid"/>
          <a:lstStyle/>
          <a:p>
            <a:pPr algn="ctr"/>
            <a:r>
              <a:rPr lang="en-US" sz="3800" b="1">
                <a:solidFill>
                  <a:srgbClr val="FFFFFF"/>
                </a:solidFill>
                <a:latin typeface="Aptos"/>
              </a:rPr>
              <a:t>242</a:t>
            </a:r>
          </a:p>
        </p:txBody>
      </p:sp>
      <p:sp>
        <p:nvSpPr>
          <p:cNvPr id="1" name="Text"/>
          <p:cNvSpPr/>
          <p:nvPr/>
        </p:nvSpPr>
        <p:spPr>
          <a:xfrm>
            <a:off x="822960" y="288036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300" b="1">
                <a:solidFill>
                  <a:srgbClr val="17324D"/>
                </a:solidFill>
                <a:latin typeface="Aptos"/>
              </a:rPr>
              <a:t>Monthly observations</a:t>
            </a:r>
          </a:p>
        </p:txBody>
      </p:sp>
      <p:sp>
        <p:nvSpPr>
          <p:cNvPr id="1" name="Text"/>
          <p:cNvSpPr/>
          <p:nvPr/>
        </p:nvSpPr>
        <p:spPr>
          <a:xfrm>
            <a:off x="4617720" y="1737360"/>
            <a:ext cx="2926080" cy="1188720"/>
          </a:xfrm>
          <a:prstGeom prst="roundRect">
            <a:avLst/>
          </a:prstGeom>
          <a:solidFill>
            <a:srgbClr val="C35F1D"/>
          </a:solidFill>
          <a:ln w="9525">
            <a:solidFill>
              <a:srgbClr val="C35F1D"/>
            </a:solidFill>
          </a:ln>
        </p:spPr>
        <p:txBody>
          <a:bodyPr wrap="square" anchor="mid"/>
          <a:lstStyle/>
          <a:p>
            <a:pPr algn="ctr"/>
            <a:r>
              <a:rPr lang="en-US" sz="3800" b="1">
                <a:solidFill>
                  <a:srgbClr val="FFFFFF"/>
                </a:solidFill>
                <a:latin typeface="Aptos"/>
              </a:rPr>
              <a:t>27</a:t>
            </a:r>
          </a:p>
        </p:txBody>
      </p:sp>
      <p:sp>
        <p:nvSpPr>
          <p:cNvPr id="1" name="Text"/>
          <p:cNvSpPr/>
          <p:nvPr/>
        </p:nvSpPr>
        <p:spPr>
          <a:xfrm>
            <a:off x="4617720" y="288036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300" b="1">
                <a:solidFill>
                  <a:srgbClr val="17324D"/>
                </a:solidFill>
                <a:latin typeface="Aptos"/>
              </a:rPr>
              <a:t>Dataset columns</a:t>
            </a:r>
          </a:p>
        </p:txBody>
      </p:sp>
      <p:sp>
        <p:nvSpPr>
          <p:cNvPr id="1" name="Text"/>
          <p:cNvSpPr/>
          <p:nvPr/>
        </p:nvSpPr>
        <p:spPr>
          <a:xfrm>
            <a:off x="8412480" y="1737360"/>
            <a:ext cx="2926080" cy="1188720"/>
          </a:xfrm>
          <a:prstGeom prst="roundRect">
            <a:avLst/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anchor="mid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Aptos"/>
              </a:rPr>
              <a:t>2004-2024</a:t>
            </a:r>
          </a:p>
        </p:txBody>
      </p:sp>
      <p:sp>
        <p:nvSpPr>
          <p:cNvPr id="1" name="Text"/>
          <p:cNvSpPr/>
          <p:nvPr/>
        </p:nvSpPr>
        <p:spPr>
          <a:xfrm>
            <a:off x="8412480" y="288036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300" b="1">
                <a:solidFill>
                  <a:srgbClr val="17324D"/>
                </a:solidFill>
                <a:latin typeface="Aptos"/>
              </a:rPr>
              <a:t>Historical period</a:t>
            </a:r>
          </a:p>
        </p:txBody>
      </p:sp>
      <p:sp>
        <p:nvSpPr>
          <p:cNvPr id="2" name="Bullets"/>
          <p:cNvSpPr/>
          <p:nvPr/>
        </p:nvSpPr>
        <p:spPr>
          <a:xfrm>
            <a:off x="1005840" y="388620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Target variable: Home_Price_Index</a:t>
            </a:r>
          </a:p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Main variables: mortgage rate, interest rate, unemployment, inflation, permits, income, population, and sentiment</a:t>
            </a:r>
          </a:p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The data supports both prediction and interpretation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Data Preparation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2" name="Bullets"/>
          <p:cNvSpPr/>
          <p:nvPr/>
        </p:nvSpPr>
        <p:spPr>
          <a:xfrm>
            <a:off x="868680" y="1600200"/>
            <a:ext cx="10241280" cy="4800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Parse and sort the date column chronologically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Convert numeric columns into model-ready values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Check missing values and duplicates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Create administration labels, lags, rolling features, ratios, and percentage 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CRISP-DM Methodology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2" name="Bullets"/>
          <p:cNvSpPr/>
          <p:nvPr/>
        </p:nvSpPr>
        <p:spPr>
          <a:xfrm>
            <a:off x="868680" y="1600200"/>
            <a:ext cx="10241280" cy="4800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Business understanding defines the housing problem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Data understanding checks quality and temporal structure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Preparation builds usable analytical features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Modeling and evaluation compare algorithms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Deployment is delivered through Streamlit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System Architecture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446520" cy="4892040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  <p:sp>
        <p:nvSpPr>
          <p:cNvPr id="2" name="Bullets"/>
          <p:cNvSpPr/>
          <p:nvPr/>
        </p:nvSpPr>
        <p:spPr>
          <a:xfrm>
            <a:off x="7315200" y="1600200"/>
            <a:ext cx="4343400" cy="46634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Data layer, analysis layer, modeling layer, interpretation layer, governance layer</a:t>
            </a:r>
          </a:p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The app connects raw data, models, charts, paper review, and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Streamlit App: Home And Workflow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1481328"/>
            <a:ext cx="10378440" cy="4892040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Streamlit App: ML Lab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1481328"/>
            <a:ext cx="10378440" cy="4892040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Streamlit App: Evaluation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1481328"/>
            <a:ext cx="10378440" cy="4892040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Streamlit App: OLAP And Export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1481328"/>
            <a:ext cx="10378440" cy="4892040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Streamlit App: Paper Review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446520" cy="4892040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  <p:sp>
        <p:nvSpPr>
          <p:cNvPr id="2" name="Bullets"/>
          <p:cNvSpPr/>
          <p:nvPr/>
        </p:nvSpPr>
        <p:spPr>
          <a:xfrm>
            <a:off x="7315200" y="1600200"/>
            <a:ext cx="4343400" cy="46634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Compares dashboard evidence with housing theory and market interpretation</a:t>
            </a:r>
          </a:p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Explains rates, supply, demand, timing, and affordability together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Streamlit App: Governance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1481328"/>
            <a:ext cx="10378440" cy="4892040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Correlation Results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446520" cy="4892040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  <p:sp>
        <p:nvSpPr>
          <p:cNvPr id="2" name="Bullets"/>
          <p:cNvSpPr/>
          <p:nvPr/>
        </p:nvSpPr>
        <p:spPr>
          <a:xfrm>
            <a:off x="7315200" y="1600200"/>
            <a:ext cx="4343400" cy="46634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Strong relationships appear around lagged HPI, smoothed HPI, and Median_Income</a:t>
            </a:r>
          </a:p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Correlation supports interpretation but does not prove causality</a:t>
            </a:r>
          </a:p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Housing prices are persistent and linked to broader economic context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Model Evaluation Results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446520" cy="4892040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  <p:sp>
        <p:nvSpPr>
          <p:cNvPr id="2" name="Bullets"/>
          <p:cNvSpPr/>
          <p:nvPr/>
        </p:nvSpPr>
        <p:spPr>
          <a:xfrm>
            <a:off x="7315200" y="1600200"/>
            <a:ext cx="4343400" cy="46634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Compared models include Linear Regression, Ridge, Random Forest, Gradient Boosting, Decision Tree, KNN, and SVR</a:t>
            </a:r>
          </a:p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Best generated metrics: R2 = 0.999, RMSE = 0.797, MAE = 0.661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Regression Metrics Table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2" name="Bullets"/>
          <p:cNvSpPr/>
          <p:nvPr/>
        </p:nvSpPr>
        <p:spPr>
          <a:xfrm>
            <a:off x="868680" y="1600200"/>
            <a:ext cx="10241280" cy="4800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Linear Regression: MAE 0.661, RMSE 0.797, R2 0.999, CV R2 0.994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Ridge Regression: MAE 3.715, RMSE 4.162, R2 0.984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Tree-based models perform weaker on the final chronological test period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Evaluation must be time-aware, not based only on model popularity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Fit Diagnostics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446520" cy="4892040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  <p:sp>
        <p:nvSpPr>
          <p:cNvPr id="2" name="Bullets"/>
          <p:cNvSpPr/>
          <p:nvPr/>
        </p:nvSpPr>
        <p:spPr>
          <a:xfrm>
            <a:off x="7315200" y="1600200"/>
            <a:ext cx="4343400" cy="46634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Diagnostics compare train and test performance</a:t>
            </a:r>
          </a:p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Large train-test gaps indicate weak generalization or overfitting risk</a:t>
            </a:r>
          </a:p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Tree models struggle when the final period moves beyond the training range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Actual Versus Predicted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446520" cy="4892040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  <p:sp>
        <p:nvSpPr>
          <p:cNvPr id="2" name="Bullets"/>
          <p:cNvSpPr/>
          <p:nvPr/>
        </p:nvSpPr>
        <p:spPr>
          <a:xfrm>
            <a:off x="7315200" y="1600200"/>
            <a:ext cx="4343400" cy="46634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The best model follows the chronological test period closely</a:t>
            </a:r>
          </a:p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Lagged and smoothed price features explain the strong predictive result</a:t>
            </a:r>
          </a:p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The visual is easier to defend than metrics alone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OLAP Period Results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446520" cy="4892040"/>
          </a:xfrm>
          <a:prstGeom prst="rect">
            <a:avLst/>
          </a:prstGeom>
          <a:ln w="9525">
            <a:solidFill>
              <a:srgbClr val="D8E1EA"/>
            </a:solidFill>
          </a:ln>
        </p:spPr>
      </p:pic>
      <p:sp>
        <p:nvSpPr>
          <p:cNvPr id="2" name="Bullets"/>
          <p:cNvSpPr/>
          <p:nvPr/>
        </p:nvSpPr>
        <p:spPr>
          <a:xfrm>
            <a:off x="7315200" y="1600200"/>
            <a:ext cx="4343400" cy="46634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Biden period has the highest average Home Price Index</a:t>
            </a:r>
          </a:p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Biden period also has the highest average mortgage-rate pressure</a:t>
            </a:r>
          </a:p>
          <a:p>
            <a:pPr marL="342900" indent="-228600">
              <a:buChar char="•"/>
            </a:pPr>
            <a:r>
              <a:rPr lang="en-US" sz="1600">
                <a:solidFill>
                  <a:srgbClr val="53657A"/>
                </a:solidFill>
                <a:latin typeface="Aptos"/>
              </a:rPr>
              <a:t>Prices and affordability pressure can rise together when supply and timing matter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Paper Review Message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2" name="Bullets"/>
          <p:cNvSpPr/>
          <p:nvPr/>
        </p:nvSpPr>
        <p:spPr>
          <a:xfrm>
            <a:off x="868680" y="1600200"/>
            <a:ext cx="10241280" cy="4800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Housing prices are shaped by demand, financing conditions, supply, construction, income, and timing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Higher mortgage rates reduce affordability, but prices may react slowly when supply is constrained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The strongest conclusion is multi-factor interpretation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Business Impact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2" name="Bullets"/>
          <p:cNvSpPr/>
          <p:nvPr/>
        </p:nvSpPr>
        <p:spPr>
          <a:xfrm>
            <a:off x="868680" y="1600200"/>
            <a:ext cx="10241280" cy="4800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Analytical impact: users understand which indicators move with housing prices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Decision-support impact: users compare models, periods, OLAP segments, and scenarios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Educational impact: the project demonstrates EDA, ML, forecasting, OLAP, paper review, and governance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Limitations And Future Work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2" name="Bullets"/>
          <p:cNvSpPr/>
          <p:nvPr/>
        </p:nvSpPr>
        <p:spPr>
          <a:xfrm>
            <a:off x="868680" y="1600200"/>
            <a:ext cx="10241280" cy="4800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National-level data hides regional differences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Forecasts are educational and not financial advice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Future work: regional data, live APIs, SHAP explainability, better chatbot grounding, monitoring, and authentication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1" name="Text"/>
          <p:cNvSpPr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000" b="1">
                <a:solidFill>
                  <a:srgbClr val="087F8C"/>
                </a:solidFill>
                <a:latin typeface="Aptos"/>
              </a:rPr>
              <a:t>US Housing Intelligence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17324D"/>
                </a:solidFill>
                <a:latin typeface="Aptos"/>
              </a:rPr>
              <a:t>Final Conclusion</a:t>
            </a:r>
          </a:p>
        </p:txBody>
      </p:sp>
      <p:sp>
        <p:nvSpPr>
          <p:cNvPr id="1" name="Text"/>
          <p:cNvSpPr/>
          <p:nvPr/>
        </p:nvSpPr>
        <p:spPr>
          <a:xfrm>
            <a:off x="502920" y="1243584"/>
            <a:ext cx="11064240" cy="274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wrap="square" anchor="mid"/>
          <a:lstStyle/>
          <a:p>
            <a:pPr algn="l"/>
            <a:r>
              <a:rPr lang="en-US" sz="2000">
                <a:solidFill>
                  <a:srgbClr val="17324D"/>
                </a:solidFill>
                <a:latin typeface="Aptos"/>
              </a:rPr>
              <a:t/>
            </a:r>
          </a:p>
        </p:txBody>
      </p:sp>
      <p:sp>
        <p:nvSpPr>
          <p:cNvPr id="2" name="Bullets"/>
          <p:cNvSpPr/>
          <p:nvPr/>
        </p:nvSpPr>
        <p:spPr>
          <a:xfrm>
            <a:off x="868680" y="1600200"/>
            <a:ext cx="10241280" cy="4800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The report, poster, and app now tell one consistent story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U.S. housing prices require theory, correlations, model evaluation, diagnostics, OLAP, and market context</a:t>
            </a:r>
          </a:p>
          <a:p>
            <a:pPr marL="342900" indent="-228600">
              <a:buChar char="•"/>
            </a:pPr>
            <a:r>
              <a:rPr lang="en-US" sz="1800">
                <a:solidFill>
                  <a:srgbClr val="53657A"/>
                </a:solidFill>
                <a:latin typeface="Aptos"/>
              </a:rPr>
              <a:t>The Streamlit dashboard is a housing intelligence platform, not only a collection of charts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usingIQ">
  <a:themeElements>
    <a:clrScheme name="HousingIQ">
      <a:dk1>
        <a:srgbClr val="17324D"/>
      </a:dk1>
      <a:lt1>
        <a:srgbClr val="FFFFFF"/>
      </a:lt1>
      <a:dk2>
        <a:srgbClr val="53657A"/>
      </a:dk2>
      <a:lt2>
        <a:srgbClr val="F7FAFC"/>
      </a:lt2>
      <a:accent1>
        <a:srgbClr val="087F8C"/>
      </a:accent1>
      <a:accent2>
        <a:srgbClr val="C35F1D"/>
      </a:accent2>
      <a:accent3>
        <a:srgbClr val="2563EB"/>
      </a:accent3>
      <a:accent4>
        <a:srgbClr val="7C3AED"/>
      </a:accent4>
      <a:accent5>
        <a:srgbClr val="10B981"/>
      </a:accent5>
      <a:accent6>
        <a:srgbClr val="F59E0B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Slides>25</Slides>
</Properties>
</file>

<file path=docProps/core.xml><?xml version="1.0" encoding="utf-8"?>
<cp:coreProperties xmlns:cp="http://schemas.openxmlformats.org/package/2006/metadata/core-properties" xmlns:dc="http://purl.org/dc/elements/1.1/">
  <dc:title>US Housing Intelligence Presentation</dc:title>
  <dc:creator>Codex</dc:creator>
</cp:coreProperties>
</file>