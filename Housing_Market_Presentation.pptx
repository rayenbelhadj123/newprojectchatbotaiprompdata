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1BBFA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BFA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0A83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637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LinearReg.</c:v>
                  </c:pt>
                  <c:pt idx="1">
                    <c:v>Ridge</c:v>
                  </c:pt>
                  <c:pt idx="2">
                    <c:v>GradBoost</c:v>
                  </c:pt>
                  <c:pt idx="3">
                    <c:v>DecisionTree</c:v>
                  </c:pt>
                  <c:pt idx="4">
                    <c:v>RandomForest</c:v>
                  </c:pt>
                  <c:pt idx="5">
                    <c:v>KNN</c:v>
                  </c:pt>
                  <c:pt idx="6">
                    <c:v>SVR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0.999</c:v>
                </c:pt>
                <c:pt idx="1">
                  <c:v>0.984</c:v>
                </c:pt>
                <c:pt idx="2">
                  <c:v>-4.148</c:v>
                </c:pt>
                <c:pt idx="3">
                  <c:v>-4.159</c:v>
                </c:pt>
                <c:pt idx="4">
                  <c:v>-4.494</c:v>
                </c:pt>
                <c:pt idx="5">
                  <c:v>-5.053</c:v>
                </c:pt>
                <c:pt idx="6">
                  <c:v>-10.395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-1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1BBFA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BFA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LinearReg.</c:v>
                  </c:pt>
                  <c:pt idx="1">
                    <c:v>Ridge</c:v>
                  </c:pt>
                  <c:pt idx="2">
                    <c:v>GradBoost</c:v>
                  </c:pt>
                  <c:pt idx="3">
                    <c:v>DecisionTree</c:v>
                  </c:pt>
                  <c:pt idx="4">
                    <c:v>RandomForest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0.999</c:v>
                </c:pt>
                <c:pt idx="1">
                  <c:v>0.984</c:v>
                </c:pt>
                <c:pt idx="2">
                  <c:v>-4.148</c:v>
                </c:pt>
                <c:pt idx="3">
                  <c:v>-4.159</c:v>
                </c:pt>
                <c:pt idx="4">
                  <c:v>-4.494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Historical HPI</c:v>
                </c:pt>
              </c:strCache>
            </c:strRef>
          </c:tx>
          <c:spPr>
            <a:solidFill>
              <a:srgbClr val="0D9488"/>
            </a:solidFill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  <c:pt idx="8">
                    <c:v>2018</c:v>
                  </c:pt>
                  <c:pt idx="9">
                    <c:v>2019</c:v>
                  </c:pt>
                  <c:pt idx="10">
                    <c:v>2020</c:v>
                  </c:pt>
                  <c:pt idx="11">
                    <c:v>2021</c:v>
                  </c:pt>
                  <c:pt idx="12">
                    <c:v>2022</c:v>
                  </c:pt>
                  <c:pt idx="13">
                    <c:v>2023</c:v>
                  </c:pt>
                  <c:pt idx="14">
                    <c:v>2024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185</c:v>
                </c:pt>
                <c:pt idx="1">
                  <c:v>192</c:v>
                </c:pt>
                <c:pt idx="2">
                  <c:v>198</c:v>
                </c:pt>
                <c:pt idx="3">
                  <c:v>210</c:v>
                </c:pt>
                <c:pt idx="4">
                  <c:v>218</c:v>
                </c:pt>
                <c:pt idx="5">
                  <c:v>225</c:v>
                </c:pt>
                <c:pt idx="6">
                  <c:v>234</c:v>
                </c:pt>
                <c:pt idx="7">
                  <c:v>242</c:v>
                </c:pt>
                <c:pt idx="8">
                  <c:v>256</c:v>
                </c:pt>
                <c:pt idx="9">
                  <c:v>270</c:v>
                </c:pt>
                <c:pt idx="10">
                  <c:v>285</c:v>
                </c:pt>
                <c:pt idx="11">
                  <c:v>296</c:v>
                </c:pt>
                <c:pt idx="12">
                  <c:v>305</c:v>
                </c:pt>
                <c:pt idx="13">
                  <c:v>312</c:v>
                </c:pt>
                <c:pt idx="14">
                  <c:v>318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325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325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05840"/>
            <a:ext cx="164592" cy="3108960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64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IT Business School · Tunisia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2062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Data Mining &amp; Machine Learning  ·  2025–2026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6583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D5A73"/>
                </a:solidFill>
              </a:rPr>
              <a:t>Supervisor: Kaouether Ben Ali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09728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Housing Market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20040" y="18288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and Prediction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20040" y="248716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FA6C8"/>
                </a:solidFill>
              </a:rPr>
              <a:t>Using Data Mining and Machine Learning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" y="29718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1FB"/>
                </a:solidFill>
              </a:rPr>
              <a:t>Ayoub Naouech  ·  Rayen Belhadj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4160520"/>
            <a:ext cx="1828800" cy="77724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4206240"/>
            <a:ext cx="1828800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65760" y="4626864"/>
            <a:ext cx="182880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Observations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68880" y="4160520"/>
            <a:ext cx="1828800" cy="77724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68880" y="4206240"/>
            <a:ext cx="1828800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468880" y="4626864"/>
            <a:ext cx="182880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Features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4160520"/>
            <a:ext cx="1828800" cy="77724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0" y="4206240"/>
            <a:ext cx="1828800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20yr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572000" y="4626864"/>
            <a:ext cx="182880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Timespan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75120" y="4160520"/>
            <a:ext cx="1828800" cy="77724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75120" y="4206240"/>
            <a:ext cx="1828800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675120" y="4626864"/>
            <a:ext cx="182880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Best R²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4160520"/>
            <a:ext cx="1828800" cy="777240"/>
          </a:xfrm>
          <a:prstGeom prst="rect">
            <a:avLst/>
          </a:prstGeom>
          <a:solidFill>
            <a:srgbClr val="162A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14600" y="4160520"/>
            <a:ext cx="1828800" cy="777240"/>
          </a:xfrm>
          <a:prstGeom prst="rect">
            <a:avLst/>
          </a:prstGeom>
          <a:solidFill>
            <a:srgbClr val="162A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4160520"/>
            <a:ext cx="1828800" cy="777240"/>
          </a:xfrm>
          <a:prstGeom prst="rect">
            <a:avLst/>
          </a:prstGeom>
          <a:solidFill>
            <a:srgbClr val="162A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12280" y="4160520"/>
            <a:ext cx="1828800" cy="777240"/>
          </a:xfrm>
          <a:prstGeom prst="rect">
            <a:avLst/>
          </a:prstGeom>
          <a:solidFill>
            <a:srgbClr val="162A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160520"/>
            <a:ext cx="1828800" cy="777240"/>
          </a:xfrm>
          <a:prstGeom prst="rect">
            <a:avLst/>
          </a:prstGeom>
          <a:solidFill>
            <a:srgbClr val="162A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14600" y="4160520"/>
            <a:ext cx="1828800" cy="777240"/>
          </a:xfrm>
          <a:prstGeom prst="rect">
            <a:avLst/>
          </a:prstGeom>
          <a:solidFill>
            <a:srgbClr val="162A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4160520"/>
            <a:ext cx="1828800" cy="777240"/>
          </a:xfrm>
          <a:prstGeom prst="rect">
            <a:avLst/>
          </a:prstGeom>
          <a:solidFill>
            <a:srgbClr val="162A40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AGENDA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20624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54864" cy="640080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1430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BFA9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1978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Project Motivation &amp; Context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472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Why housing markets matter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46320" y="1143000"/>
            <a:ext cx="420624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143000"/>
            <a:ext cx="54864" cy="640080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74336" y="11430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832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40680" y="11978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Dataset &amp; Features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40680" y="1472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 years, 242 observations, 27 variables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420624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1901952"/>
            <a:ext cx="54864" cy="640080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190195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BFA9"/>
                </a:solidFill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19568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CRISP-DM Methodology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23113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Full 6-phase data science workflow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1901952"/>
            <a:ext cx="420624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1901952"/>
            <a:ext cx="54864" cy="640080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74336" y="190195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832"/>
                </a:solidFill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19568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Data Preparation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40680" y="223113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Cleaning, engineering, and feature design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2660904"/>
            <a:ext cx="420624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2660904"/>
            <a:ext cx="54864" cy="640080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" y="266090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BFA9"/>
                </a:solidFill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27157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Supervised Learning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120" y="29900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Linear Regression best; Ridge baseline; tree diagnostics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2660904"/>
            <a:ext cx="420624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2660904"/>
            <a:ext cx="54864" cy="640080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74336" y="266090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832"/>
                </a:solidFill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0680" y="27157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Fit Diagnostics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40680" y="29900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Train-test gaps and chronological generalization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3419856"/>
            <a:ext cx="420624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3419856"/>
            <a:ext cx="54864" cy="640080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" y="341985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BFA9"/>
                </a:solidFill>
              </a:rPr>
              <a:t>07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60120" y="3474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Reinforcement Learning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60120" y="3749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Q-Learning market-policy simulation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46320" y="3419856"/>
            <a:ext cx="420624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46320" y="3419856"/>
            <a:ext cx="54864" cy="640080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74336" y="341985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832"/>
                </a:solidFill>
              </a:rPr>
              <a:t>08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40680" y="3474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OLAP &amp; Forecasting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40680" y="3749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Period intelligence and future scenario prediction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4178808"/>
            <a:ext cx="420624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" y="4178808"/>
            <a:ext cx="54864" cy="640080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3776" y="417880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BFA9"/>
                </a:solidFill>
              </a:rPr>
              <a:t>09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60120" y="42336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Dashboard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60120" y="45079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22-page Streamlit Intelligence Platform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46320" y="4178808"/>
            <a:ext cx="420624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46320" y="4178808"/>
            <a:ext cx="54864" cy="640080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74336" y="417880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832"/>
                </a:solidFill>
              </a:rPr>
              <a:t>10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440680" y="42336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Key Findings &amp; Conclusion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440680" y="45079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Corrected metrics, evidence, and implications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MOTIVATION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Housing Markets?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05156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i="1" dirty="0">
                <a:solidFill>
                  <a:srgbClr val="E8F1FB"/>
                </a:solidFill>
              </a:rPr>
              <a:t>"The U.S. housing market is a cornerstone of national economic health, sensitive to inflation, unemployment, mortgage conditions, and interest-rate policy — yet no single model captures its full complexity."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4206240" cy="11887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3134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23134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BFA9"/>
                </a:solidFill>
              </a:rPr>
              <a:t>Market Complexity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587752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FA6C8"/>
                </a:solidFill>
              </a:rPr>
              <a:t>Non-linear interactions between macro variables across 20+ years of boom-bust cycles cannot be captured by simple econometric models.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2240280"/>
            <a:ext cx="4206240" cy="11887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23134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40680" y="23134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BFA9"/>
                </a:solidFill>
              </a:rPr>
              <a:t>Stakeholder Need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40680" y="2587752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FA6C8"/>
                </a:solidFill>
              </a:rPr>
              <a:t>Analysts, institutions, policymakers, and researchers need accessible, data-driven tools to understand price dynamics.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566160"/>
            <a:ext cx="4206240" cy="11887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6393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36393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BFA9"/>
                </a:solidFill>
              </a:rPr>
              <a:t>Research Gap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913632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FA6C8"/>
                </a:solidFill>
              </a:rPr>
              <a:t>Most studies examine one or two variables; this project combines macro, behavioral, and policy indicators simultaneously.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3566160"/>
            <a:ext cx="4206240" cy="11887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36393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40680" y="36393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BFA9"/>
                </a:solidFill>
              </a:rPr>
              <a:t>ML Opportunity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40680" y="3913632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FA6C8"/>
                </a:solidFill>
              </a:rPr>
              <a:t>Modern ML methods (ensembles, clustering, RL) can outperform traditional OLS regression on complex, non-stationary time series.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DATASET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1965960" cy="54864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2004–2024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6184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Time Span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005840"/>
            <a:ext cx="1965960" cy="54864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11556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68880" y="16184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Monthly Rows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100584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05840"/>
            <a:ext cx="1965960" cy="54864"/>
          </a:xfrm>
          <a:prstGeom prst="rect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11556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0" y="16184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Feature Columns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75120" y="100584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75120" y="1005840"/>
            <a:ext cx="1965960" cy="54864"/>
          </a:xfrm>
          <a:prstGeom prst="rect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111556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75120" y="16184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Engineered Features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148840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148840"/>
            <a:ext cx="54864" cy="1298448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" y="221284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Housing Indicators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" y="2478024"/>
            <a:ext cx="3931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Home Price Index (HPI)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New Housing Permits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Existing Home Sales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Housing Starts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2148840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148840"/>
            <a:ext cx="54864" cy="1298448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82896" y="221284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Macro / Economy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82896" y="2478024"/>
            <a:ext cx="3931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Real GDP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Median Household Income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CPI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Federal Funds Rate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566160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566160"/>
            <a:ext cx="54864" cy="1298448"/>
          </a:xfrm>
          <a:prstGeom prst="rect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" y="363016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Mortgage &amp; Credit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" y="3895344"/>
            <a:ext cx="3931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Mortgage Rate (30yr)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Income-to-Mortgage Ratio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CPI-to-Interest Ratio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Consumer Credit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3566160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566160"/>
            <a:ext cx="54864" cy="1298448"/>
          </a:xfrm>
          <a:prstGeom prst="rect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82896" y="363016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Labor &amp; Sentiment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82896" y="3895344"/>
            <a:ext cx="3931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Unemployment Rate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Consumer Sentiment (UMICH)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3-mo Rolling Unemployment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Participation Rate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Primary sources: FRED, NAR, U.S. Census Bureau, Freddie Mac, University of Michigan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METHODOLOGY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Workflow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97480" cy="1719072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207008"/>
            <a:ext cx="402336" cy="40233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07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12161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8F1FB"/>
                </a:solidFill>
              </a:rPr>
              <a:t>Business 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2514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FA6C8"/>
                </a:solidFill>
              </a:rPr>
              <a:t>Define housing prediction objective, identify stakeholder needs, set success criteria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697480" cy="1719072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0128" y="1207008"/>
            <a:ext cx="402336" cy="40233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207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94760" y="12161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8F1FB"/>
                </a:solidFill>
              </a:rPr>
              <a:t>Data Understanding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691640"/>
            <a:ext cx="2514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FA6C8"/>
                </a:solidFill>
              </a:rPr>
              <a:t>Explore 27 features, correlation profiling, distribution analysis, quality checks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697480" cy="1719072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44768" y="1207008"/>
            <a:ext cx="402336" cy="40233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1207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29400" y="12161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8F1FB"/>
                </a:solidFill>
              </a:rPr>
              <a:t>Data Preparation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1691640"/>
            <a:ext cx="2514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FA6C8"/>
                </a:solidFill>
              </a:rPr>
              <a:t>Lag features, rolling means, imputation, period labeling, affordability ratios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2697480" cy="1719072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" y="3081528"/>
            <a:ext cx="402336" cy="40233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081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" y="30906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8F1FB"/>
                </a:solidFill>
              </a:rPr>
              <a:t>Modeling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566160"/>
            <a:ext cx="2514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FA6C8"/>
                </a:solidFill>
              </a:rPr>
              <a:t>Ridge, RF, GB, SVR, KNN, MLP for regression &amp; classification; KMeans, PCA, RL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2971800"/>
            <a:ext cx="2697480" cy="1719072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10128" y="3081528"/>
            <a:ext cx="402336" cy="40233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3081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94760" y="30906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8F1FB"/>
                </a:solidFill>
              </a:rPr>
              <a:t>Evaluation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91840" y="3566160"/>
            <a:ext cx="2514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FA6C8"/>
                </a:solidFill>
              </a:rPr>
              <a:t>MAE · RMSE · R² · Accuracy · F1 · AUC · Feature importance · Theory checks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35040" y="2971800"/>
            <a:ext cx="2697480" cy="1719072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44768" y="3081528"/>
            <a:ext cx="402336" cy="40233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44768" y="3081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29400" y="30906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8F1FB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26480" y="3566160"/>
            <a:ext cx="2514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FA6C8"/>
                </a:solidFill>
              </a:rPr>
              <a:t>Streamlit dashboard: 22 pages, OLAP cube, chatbot, governance, export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DATA PREPARATION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Cleaning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Engineered Features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527048"/>
            <a:ext cx="201168" cy="201168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39903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HPI_lag1 / HPI_lag3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164592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Target autoregression — captures housing momentum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956816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2112264"/>
            <a:ext cx="201168" cy="201168"/>
          </a:xfrm>
          <a:prstGeom prst="ellipse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98424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Unemployment_roll3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223113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3-month rolling mean — smooths seasonal noise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542032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2697480"/>
            <a:ext cx="201168" cy="201168"/>
          </a:xfrm>
          <a:prstGeom prst="ellipse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56946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Income_to_Mortgage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281635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Affordability ratio — strongest non-leaky predictor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127248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3282696"/>
            <a:ext cx="201168" cy="201168"/>
          </a:xfrm>
          <a:prstGeom prst="ellipse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15468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CPI_to_Interest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7240" y="340156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Macro pressure index — inflation vs. rate dynamics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712464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3867912"/>
            <a:ext cx="201168" cy="201168"/>
          </a:xfrm>
          <a:prstGeom prst="ellipse">
            <a:avLst/>
          </a:prstGeom>
          <a:solidFill>
            <a:srgbClr val="0D94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73989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HPI_pct_change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7240" y="398678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Momentum signal — rate of price acceleration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297680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" y="4453128"/>
            <a:ext cx="201168" cy="201168"/>
          </a:xfrm>
          <a:prstGeom prst="ellipse">
            <a:avLst/>
          </a:prstGeom>
          <a:solidFill>
            <a:srgbClr val="3D5A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32511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Administration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77240" y="457200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Political-period label — groups by presidency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10058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Top Correlations with HPI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54880" y="1389888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42646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Income-to-Mortgage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1682496"/>
            <a:ext cx="2743200" cy="128016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1682496"/>
            <a:ext cx="2551176" cy="128016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35240" y="1426464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BFA9"/>
                </a:solidFill>
              </a:rPr>
              <a:t>+0.93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1975104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20116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HPI Smoothed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2267712"/>
            <a:ext cx="2743200" cy="128016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0" y="2267712"/>
            <a:ext cx="2743200" cy="128016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35240" y="2011680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BFA9"/>
                </a:solidFill>
              </a:rPr>
              <a:t>+1.00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2560320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259689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HPI lag1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46320" y="2852928"/>
            <a:ext cx="2743200" cy="128016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6320" y="2852928"/>
            <a:ext cx="2743200" cy="128016"/>
          </a:xfrm>
          <a:prstGeom prst="rect">
            <a:avLst/>
          </a:prstGeom>
          <a:solidFill>
            <a:srgbClr val="0D94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35240" y="259689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BFA9"/>
                </a:solidFill>
              </a:rPr>
              <a:t>+1.00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754880" y="3145536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31821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HPI lag3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46320" y="3438144"/>
            <a:ext cx="2743200" cy="128016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46320" y="3438144"/>
            <a:ext cx="2743200" cy="128016"/>
          </a:xfrm>
          <a:prstGeom prst="rect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35240" y="3182112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BFA9"/>
                </a:solidFill>
              </a:rPr>
              <a:t>+1.00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754880" y="3730752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37673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Median Income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846320" y="4023360"/>
            <a:ext cx="2743200" cy="128016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46320" y="4023360"/>
            <a:ext cx="2414016" cy="128016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35240" y="3767328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BFA9"/>
                </a:solidFill>
              </a:rPr>
              <a:t>+0.88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754880" y="4315968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46320" y="435254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Mortgage Rate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846320" y="4608576"/>
            <a:ext cx="2743200" cy="128016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46320" y="4608576"/>
            <a:ext cx="1289304" cy="128016"/>
          </a:xfrm>
          <a:prstGeom prst="rect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635240" y="4352544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BFA9"/>
                </a:solidFill>
              </a:rPr>
              <a:t>+0.47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SUPERVISED LEARNING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Models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2011680" cy="182880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24128"/>
            <a:ext cx="2011680" cy="36576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10789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BBFA9"/>
                </a:solidFill>
              </a:rPr>
              <a:t>★ BEST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BBFA9"/>
                </a:solidFill>
              </a:rPr>
              <a:t>Linear Regression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444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D5A73"/>
                </a:solidFill>
              </a:rPr>
              <a:t>Linear / Best test model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7FA6C8"/>
                </a:solidFill>
              </a:rPr>
              <a:t>Best chronological test result because lagged and smoothed HPI preserve the market trend.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2450592"/>
            <a:ext cx="1828800" cy="292608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50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R² 0.999 | MAE 0.661 | RMSE 0.797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14600" y="1024128"/>
            <a:ext cx="2011680" cy="182880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06040" y="1115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0A832"/>
                </a:solidFill>
              </a:rPr>
              <a:t>Ridge Regression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06040" y="1444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D5A73"/>
                </a:solidFill>
              </a:rPr>
              <a:t>Regularized baseline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606040" y="1645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7FA6C8"/>
                </a:solidFill>
              </a:rPr>
              <a:t>Stable and interpretable. Useful as a transparent benchmark under multicollinearity.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06040" y="2450592"/>
            <a:ext cx="1828800" cy="292608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2450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6C8"/>
                </a:solidFill>
              </a:rPr>
              <a:t>R² 0.984 | MAE 3.715 | RMSE 4.162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63440" y="1024128"/>
            <a:ext cx="2011680" cy="182880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1115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4CB8E0"/>
                </a:solidFill>
              </a:rPr>
              <a:t>Gradient Boosting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0" y="1444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D5A73"/>
                </a:solidFill>
              </a:rPr>
              <a:t>Tree ensemble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54880" y="1645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7FA6C8"/>
                </a:solidFill>
              </a:rPr>
              <a:t>Flexible model, but weak on the final chronological extrapolation period.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54880" y="2450592"/>
            <a:ext cx="1828800" cy="292608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450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6C8"/>
                </a:solidFill>
              </a:rPr>
              <a:t>R² -4.148 | MAE 65.816 | RMSE 73.669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812280" y="1024128"/>
            <a:ext cx="2011680" cy="182880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03720" y="1115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D5A73"/>
                </a:solidFill>
              </a:rPr>
              <a:t>Decision Tree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03720" y="1444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D5A73"/>
                </a:solidFill>
              </a:rPr>
              <a:t>Tree / Regression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903720" y="1645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7FA6C8"/>
                </a:solidFill>
              </a:rPr>
              <a:t>Easy to explain but performs poorly outside the training range.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903720" y="2450592"/>
            <a:ext cx="1828800" cy="292608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2450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6C8"/>
                </a:solidFill>
              </a:rPr>
              <a:t>R² -4.159 | MAE 66.218 | RMSE 73.750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65760" y="2990088"/>
            <a:ext cx="2011680" cy="182880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7200" y="3081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E8637A"/>
                </a:solidFill>
              </a:rPr>
              <a:t>Random Forest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34107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D5A73"/>
                </a:solidFill>
              </a:rPr>
              <a:t>Tree ensemble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" y="36118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7FA6C8"/>
                </a:solidFill>
              </a:rPr>
              <a:t>Strong in many contexts, but here struggles to extrapolate the high-price test period.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4416552"/>
            <a:ext cx="1828800" cy="292608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416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6C8"/>
                </a:solidFill>
              </a:rPr>
              <a:t>R² -4.494 | MAE 69.077 | RMSE 76.105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514600" y="2990088"/>
            <a:ext cx="2011680" cy="182880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606040" y="3081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D5A73"/>
                </a:solidFill>
              </a:rPr>
              <a:t>K-Nearest Neighbors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606040" y="34107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D5A73"/>
                </a:solidFill>
              </a:rPr>
              <a:t>Instance-based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606040" y="36118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7FA6C8"/>
                </a:solidFill>
              </a:rPr>
              <a:t>Nearest-neighbor logic is weak for later observations outside earlier ranges.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606040" y="4416552"/>
            <a:ext cx="1828800" cy="292608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6040" y="4416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6C8"/>
                </a:solidFill>
              </a:rPr>
              <a:t>R² -5.053 | MAE 74.459 | RMSE 79.883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663440" y="2990088"/>
            <a:ext cx="2011680" cy="182880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754880" y="3081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D5A73"/>
                </a:solidFill>
              </a:rPr>
              <a:t>Support Vector Regressor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754880" y="34107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D5A73"/>
                </a:solidFill>
              </a:rPr>
              <a:t>Kernel / Non-linear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754880" y="36118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7FA6C8"/>
                </a:solidFill>
              </a:rPr>
              <a:t>Sensitive to scaling and parameters; weakest generated test result.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54880" y="4416552"/>
            <a:ext cx="1828800" cy="292608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4416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6C8"/>
                </a:solidFill>
              </a:rPr>
              <a:t>R² -10.395 | MAE 103.767 | RMSE 109.606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812280" y="2990088"/>
            <a:ext cx="2011680" cy="182880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903720" y="3081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D9484"/>
                </a:solidFill>
              </a:rPr>
              <a:t>Diagnostic lesson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903720" y="34107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D5A73"/>
                </a:solidFill>
              </a:rPr>
              <a:t>Model risk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903720" y="36118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7FA6C8"/>
                </a:solidFill>
              </a:rPr>
              <a:t>Time-aware diagnostics matter more than choosing a popular model family.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903720" y="4416552"/>
            <a:ext cx="1828800" cy="292608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03720" y="4416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6C8"/>
                </a:solidFill>
              </a:rPr>
              <a:t>Use train/test gap + charts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MODEL COMPARISON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Regression Evaluation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05840"/>
          <a:ext cx="44805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983480" y="1005840"/>
            <a:ext cx="3794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C:\Users\Dell\Desktop\US_Housing_Kaggle_Advanced_Streamlit_Project\final_housing_intelligence_latex_report\figures\model_evaluation_resul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344" y="1060704"/>
            <a:ext cx="3685032" cy="17190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983480" y="2971800"/>
            <a:ext cx="3794760" cy="18745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120640" y="309067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BFA9"/>
                </a:solidFill>
              </a:rPr>
              <a:t>Winner: Linear Regression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120640" y="336499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0.999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5120640" y="3785616"/>
            <a:ext cx="3520440" cy="210312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166360" y="3785616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6C8"/>
                </a:solidFill>
              </a:rPr>
              <a:t>MAE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629400" y="3785616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F1FB"/>
                </a:solidFill>
              </a:rPr>
              <a:t>0.661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5120640" y="4041648"/>
            <a:ext cx="3520440" cy="210312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66360" y="4041648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6C8"/>
                </a:solidFill>
              </a:rPr>
              <a:t>RMSE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629400" y="4041648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F1FB"/>
                </a:solidFill>
              </a:rPr>
              <a:t>0.797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120640" y="4297680"/>
            <a:ext cx="3520440" cy="210312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166360" y="4297680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6C8"/>
                </a:solidFill>
              </a:rPr>
              <a:t>CV R²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6629400" y="429768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F1FB"/>
                </a:solidFill>
              </a:rPr>
              <a:t>0.994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5120640" y="4553712"/>
            <a:ext cx="3520440" cy="210312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66360" y="4553712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6C8"/>
                </a:solidFill>
              </a:rPr>
              <a:t>Split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6629400" y="4553712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F1FB"/>
                </a:solidFill>
              </a:rPr>
              <a:t>80/20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5120640" y="457200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FA6C8"/>
                </a:solidFill>
              </a:rPr>
              <a:t>Lagged and smoothed HPI features make a transparent linear model generalize best; tree models struggle to extrapolate the final high-price period.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EXPLAINABILITY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&amp; Feature Signal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1FB"/>
                </a:solidFill>
              </a:rPr>
              <a:t>Home_Price_Index_Smoothed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017520" y="1188720"/>
            <a:ext cx="5029200" cy="256032"/>
          </a:xfrm>
          <a:prstGeom prst="rect">
            <a:avLst/>
          </a:prstGeom>
          <a:solidFill>
            <a:srgbClr val="162A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1188720"/>
            <a:ext cx="5029200" cy="256032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0" y="109728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BFA9"/>
                </a:solidFill>
              </a:rPr>
              <a:t>100%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184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1FB"/>
                </a:solidFill>
              </a:rPr>
              <a:t>HPI_lag1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17520" y="1709928"/>
            <a:ext cx="5029200" cy="256032"/>
          </a:xfrm>
          <a:prstGeom prst="rect">
            <a:avLst/>
          </a:prstGeom>
          <a:solidFill>
            <a:srgbClr val="162A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1709928"/>
            <a:ext cx="5029200" cy="256032"/>
          </a:xfrm>
          <a:prstGeom prst="rect">
            <a:avLst/>
          </a:prstGeom>
          <a:solidFill>
            <a:srgbClr val="0D94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161848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4"/>
                </a:solidFill>
              </a:rPr>
              <a:t>100%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13969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1FB"/>
                </a:solidFill>
              </a:rPr>
              <a:t>HPI_lag3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17520" y="2231136"/>
            <a:ext cx="5029200" cy="256032"/>
          </a:xfrm>
          <a:prstGeom prst="rect">
            <a:avLst/>
          </a:prstGeom>
          <a:solidFill>
            <a:srgbClr val="162A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0" y="2231136"/>
            <a:ext cx="5029200" cy="256032"/>
          </a:xfrm>
          <a:prstGeom prst="rect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2139696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CB8E0"/>
                </a:solidFill>
              </a:rPr>
              <a:t>100%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66090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1FB"/>
                </a:solidFill>
              </a:rPr>
              <a:t>Median_Income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017520" y="2752344"/>
            <a:ext cx="5029200" cy="256032"/>
          </a:xfrm>
          <a:prstGeom prst="rect">
            <a:avLst/>
          </a:prstGeom>
          <a:solidFill>
            <a:srgbClr val="162A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17520" y="2752344"/>
            <a:ext cx="4425696" cy="256032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2660904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0A832"/>
                </a:solidFill>
              </a:rPr>
              <a:t>88%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18211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1FB"/>
                </a:solidFill>
              </a:rPr>
              <a:t>US_Population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017520" y="3273552"/>
            <a:ext cx="5029200" cy="256032"/>
          </a:xfrm>
          <a:prstGeom prst="rect">
            <a:avLst/>
          </a:prstGeom>
          <a:solidFill>
            <a:srgbClr val="162A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17520" y="3273552"/>
            <a:ext cx="4325112" cy="256032"/>
          </a:xfrm>
          <a:prstGeom prst="rect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0" y="3182112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637A"/>
                </a:solidFill>
              </a:rPr>
              <a:t>86%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370332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1FB"/>
                </a:solidFill>
              </a:rPr>
              <a:t>Income_to_Mortgage_Ratio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017520" y="3794760"/>
            <a:ext cx="5029200" cy="256032"/>
          </a:xfrm>
          <a:prstGeom prst="rect">
            <a:avLst/>
          </a:prstGeom>
          <a:solidFill>
            <a:srgbClr val="162A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17520" y="3794760"/>
            <a:ext cx="4123944" cy="256032"/>
          </a:xfrm>
          <a:prstGeom prst="rect">
            <a:avLst/>
          </a:prstGeom>
          <a:solidFill>
            <a:srgbClr val="7FA6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38160" y="370332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A6C8"/>
                </a:solidFill>
              </a:rPr>
              <a:t>82%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2245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1FB"/>
                </a:solidFill>
              </a:rPr>
              <a:t>Mortgage_Rate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017520" y="4315968"/>
            <a:ext cx="5029200" cy="256032"/>
          </a:xfrm>
          <a:prstGeom prst="rect">
            <a:avLst/>
          </a:prstGeom>
          <a:solidFill>
            <a:srgbClr val="162A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17520" y="4315968"/>
            <a:ext cx="2363724" cy="256032"/>
          </a:xfrm>
          <a:prstGeom prst="rect">
            <a:avLst/>
          </a:prstGeom>
          <a:solidFill>
            <a:srgbClr val="3D5A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38160" y="422452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D5A73"/>
                </a:solidFill>
              </a:rPr>
              <a:t>47%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663440"/>
            <a:ext cx="4023360" cy="347472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" y="4663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BFA9"/>
                </a:solidFill>
              </a:rPr>
              <a:t>Lagged and smoothed HPI confirm strong housing-price persistence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4663440"/>
            <a:ext cx="4023360" cy="347472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46320" y="4663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A832"/>
                </a:solidFill>
              </a:rPr>
              <a:t>Median income and affordability ratios support the paper-review story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APP EVALUATION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Page + Corrected Metrics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The final presentation uses the generated regression evidence from the included CSV: chronological 80/20 split, real model metrics, and diagnostic charts.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41732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417320"/>
            <a:ext cx="3108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0" y="1417320"/>
            <a:ext cx="54864" cy="777240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06440" y="14630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806440" y="18105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Best R² · Linear Regression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669280" y="2313432"/>
            <a:ext cx="3108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69280" y="2313432"/>
            <a:ext cx="54864" cy="777240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06440" y="23591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0.661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806440" y="27066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Best MAE · Linear Regression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669280" y="3209544"/>
            <a:ext cx="3108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0" y="3209544"/>
            <a:ext cx="54864" cy="777240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06440" y="325526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0.797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806440" y="36027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Best RMSE · Linear Regression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669280" y="4105656"/>
            <a:ext cx="3108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669280" y="4105656"/>
            <a:ext cx="54864" cy="777240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06440" y="41513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0.994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5806440" y="44988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Best CV R² · Linear Regression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Key takeaway: lag and smoothing features make Linear Regression strongest here; tree models are useful diagnostics but weak at extrapolating the final high-price period.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UNSUPERVISED LEARNING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Results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4206240" cy="1901952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24128"/>
            <a:ext cx="914400" cy="292608"/>
          </a:xfrm>
          <a:prstGeom prst="rect">
            <a:avLst/>
          </a:prstGeom>
          <a:solidFill>
            <a:srgbClr val="1BBFA9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241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K-MEANS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75488" y="13716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1FB"/>
                </a:solidFill>
              </a:rPr>
              <a:t>Market Regime Clustering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6276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BFA9"/>
                </a:solidFill>
              </a:rPr>
              <a:t>3 distinct market regimes identified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8836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• High-rate stress periods (2022–24)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21305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• Low-rate expansion cycles (2013–19)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23774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• Crisis/transition windows (2008–12, 2020)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26080" y="1115568"/>
            <a:ext cx="1554480" cy="219456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11155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BFA9"/>
                </a:solidFill>
              </a:rPr>
              <a:t>Silhouette: 0.42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54880" y="1024128"/>
            <a:ext cx="4206240" cy="1901952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24128"/>
            <a:ext cx="914400" cy="292608"/>
          </a:xfrm>
          <a:prstGeom prst="rect">
            <a:avLst/>
          </a:prstGeom>
          <a:solidFill>
            <a:srgbClr val="4CB8E0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0241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B8E0"/>
                </a:solidFill>
              </a:rPr>
              <a:t>PCA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64608" y="13716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1FB"/>
                </a:solidFill>
              </a:rPr>
              <a:t>Dimensionality Reduction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64608" y="16276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B8E0"/>
                </a:solidFill>
              </a:rPr>
              <a:t>~70% variance in first 2 PCs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64608" y="18836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• PC1 ~ affordability &amp; income pressure axis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64608" y="21305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• PC2 ~ rate shock &amp; volatility axis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64608" y="23774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• Macro behavior is compressible into 2 key signals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0" y="1115568"/>
            <a:ext cx="1554480" cy="219456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11155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CB8E0"/>
                </a:solidFill>
              </a:rPr>
              <a:t>PC1 explains 48%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3054096"/>
            <a:ext cx="4206240" cy="1901952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054096"/>
            <a:ext cx="914400" cy="292608"/>
          </a:xfrm>
          <a:prstGeom prst="rect">
            <a:avLst/>
          </a:prstGeom>
          <a:solidFill>
            <a:srgbClr val="F0A832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0540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A832"/>
                </a:solidFill>
              </a:rPr>
              <a:t>DBSCAN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5488" y="34015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1FB"/>
                </a:solidFill>
              </a:rPr>
              <a:t>Density-Based Segmentation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" y="36576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32"/>
                </a:solidFill>
              </a:rPr>
              <a:t>3 dense groups + noise periods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" y="39136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• Robust without pre-specifying 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" y="41605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• Noise = 2008, 2020, 2022 spikes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" y="440740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• Identifies natural market boundaries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926080" y="3145536"/>
            <a:ext cx="1554480" cy="219456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0" y="314553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A832"/>
                </a:solidFill>
              </a:rPr>
              <a:t>12 noise outliers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54880" y="3054096"/>
            <a:ext cx="4206240" cy="1901952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054096"/>
            <a:ext cx="914400" cy="292608"/>
          </a:xfrm>
          <a:prstGeom prst="rect">
            <a:avLst/>
          </a:prstGeom>
          <a:solidFill>
            <a:srgbClr val="E8637A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0540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637A"/>
                </a:solidFill>
              </a:rPr>
              <a:t>ISOLATION FOREST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64608" y="34015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1FB"/>
                </a:solidFill>
              </a:rPr>
              <a:t>Anomaly Detection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64608" y="36576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37A"/>
                </a:solidFill>
              </a:rPr>
              <a:t>14 anomalous months flagged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64608" y="39136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• Flags 2008–09 financial crisis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64608" y="41605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• 2020 pandemic shock months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64608" y="440740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• 2022 rate-shock outliers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315200" y="3145536"/>
            <a:ext cx="1554480" cy="219456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0" y="314553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637A"/>
                </a:solidFill>
              </a:rPr>
              <a:t>5% contamination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REINFORCEMENT LEARNING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Market Simulation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24128"/>
            <a:ext cx="2697480" cy="54864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BBFA9"/>
                </a:solidFill>
              </a:rPr>
              <a:t>STATE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Condition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Rising / Flat / Falling HPI momentum combined with macro signal level (Low/Med/High)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024128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24128"/>
            <a:ext cx="2697480" cy="54864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09728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0A832"/>
                </a:solidFill>
              </a:rPr>
              <a:t>ACTION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91840" y="13533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Decision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91840" y="173736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Buy/Overweight  ·  Hold/Neutral  ·  Wait/Underweight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024128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024128"/>
            <a:ext cx="2697480" cy="54864"/>
          </a:xfrm>
          <a:prstGeom prst="rect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09728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637A"/>
                </a:solidFill>
              </a:rPr>
              <a:t>REWARD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26480" y="13533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Signal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26480" y="173736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Positive when action aligns with next price movement; penalized for volatility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31821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Training Parameters &amp; Results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520440"/>
            <a:ext cx="42062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5204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Episodes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60320" y="352044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BFA9"/>
                </a:solidFill>
              </a:rPr>
              <a:t>250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767328"/>
            <a:ext cx="42062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673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Learning Rate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60320" y="37673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BFA9"/>
                </a:solidFill>
              </a:rPr>
              <a:t>0.18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014216"/>
            <a:ext cx="42062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0142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Discount Factor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560320" y="401421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BFA9"/>
                </a:solidFill>
              </a:rPr>
              <a:t>0.88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4261104"/>
            <a:ext cx="42062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26110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Initial Epsilon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560320" y="426110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A832"/>
                </a:solidFill>
              </a:rPr>
              <a:t>0.35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4507992"/>
            <a:ext cx="42062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5079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Risk Penalty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560320" y="45079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A832"/>
                </a:solidFill>
              </a:rPr>
              <a:t>1.0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4754880"/>
            <a:ext cx="42062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7548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Best Action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560320" y="47548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637A"/>
                </a:solidFill>
              </a:rPr>
              <a:t>Buy/OW (Rising × Low signal)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182112"/>
            <a:ext cx="4023360" cy="19202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2461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BFA9"/>
                </a:solidFill>
              </a:rPr>
              <a:t>Educational RL Insight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92040" y="3547872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Unlike supervised ML (predict a value) and unsupervised learning (find groups), reinforcement learning learns a DECISION POLICY through repeated interaction.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The agent discovers that "Rising market + Low macro signal" is the state where buying/overweighting is most consistently rewarded across 250 training episodes.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⚠️ This is an educational simulation, not financial advice.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OLAP ANALYTICS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Cube &amp; Segmentation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4114800" cy="39319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BFA9"/>
                </a:solidFill>
              </a:rPr>
              <a:t>3D OLAP Block Cube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08176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FA6C8"/>
                </a:solidFill>
              </a:rPr>
              <a:t>Three dimensions cross-cut the dataset simultaneously: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FA6C8"/>
                </a:solidFill>
              </a:rPr>
              <a:t>• Administration Period (X)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FA6C8"/>
                </a:solidFill>
              </a:rPr>
              <a:t>• Calendar Year (Y)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FA6C8"/>
                </a:solidFill>
              </a:rPr>
              <a:t>• Market Quarter (Z)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FA6C8"/>
                </a:solidFill>
              </a:rPr>
              <a:t>Each 3D block represents the aggregated Home Price Index for that combination of period, year, and quarter.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3291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1FB"/>
                </a:solidFill>
              </a:rPr>
              <a:t>Example Pivot: Mean HPI by Administration × Year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3611880"/>
            <a:ext cx="786384" cy="256032"/>
          </a:xfrm>
          <a:prstGeom prst="rect">
            <a:avLst/>
          </a:prstGeom>
          <a:solidFill>
            <a:srgbClr val="0D9484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61188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Period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307592" y="3611880"/>
            <a:ext cx="786384" cy="256032"/>
          </a:xfrm>
          <a:prstGeom prst="rect">
            <a:avLst/>
          </a:prstGeom>
          <a:solidFill>
            <a:srgbClr val="0D9484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07592" y="361188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2019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112264" y="3611880"/>
            <a:ext cx="786384" cy="256032"/>
          </a:xfrm>
          <a:prstGeom prst="rect">
            <a:avLst/>
          </a:prstGeom>
          <a:solidFill>
            <a:srgbClr val="0D9484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12264" y="361188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2020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916936" y="3611880"/>
            <a:ext cx="786384" cy="256032"/>
          </a:xfrm>
          <a:prstGeom prst="rect">
            <a:avLst/>
          </a:prstGeom>
          <a:solidFill>
            <a:srgbClr val="0D9484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16936" y="361188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2021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721608" y="3611880"/>
            <a:ext cx="786384" cy="256032"/>
          </a:xfrm>
          <a:prstGeom prst="rect">
            <a:avLst/>
          </a:prstGeom>
          <a:solidFill>
            <a:srgbClr val="0D9484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21608" y="361188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2022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" y="3886200"/>
            <a:ext cx="786384" cy="256032"/>
          </a:xfrm>
          <a:prstGeom prst="rect">
            <a:avLst/>
          </a:prstGeom>
          <a:solidFill>
            <a:srgbClr val="0D9484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88620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Pre-Trump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307592" y="3886200"/>
            <a:ext cx="786384" cy="256032"/>
          </a:xfrm>
          <a:prstGeom prst="rect">
            <a:avLst/>
          </a:prstGeom>
          <a:solidFill>
            <a:srgbClr val="07111F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07592" y="388620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—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112264" y="3886200"/>
            <a:ext cx="786384" cy="256032"/>
          </a:xfrm>
          <a:prstGeom prst="rect">
            <a:avLst/>
          </a:prstGeom>
          <a:solidFill>
            <a:srgbClr val="07111F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12264" y="388620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—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916936" y="3886200"/>
            <a:ext cx="786384" cy="256032"/>
          </a:xfrm>
          <a:prstGeom prst="rect">
            <a:avLst/>
          </a:prstGeom>
          <a:solidFill>
            <a:srgbClr val="07111F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16936" y="388620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—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721608" y="3886200"/>
            <a:ext cx="786384" cy="256032"/>
          </a:xfrm>
          <a:prstGeom prst="rect">
            <a:avLst/>
          </a:prstGeom>
          <a:solidFill>
            <a:srgbClr val="07111F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21608" y="388620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—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" y="4160520"/>
            <a:ext cx="786384" cy="256032"/>
          </a:xfrm>
          <a:prstGeom prst="rect">
            <a:avLst/>
          </a:prstGeom>
          <a:solidFill>
            <a:srgbClr val="0D9484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16052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Trump 17-20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307592" y="4160520"/>
            <a:ext cx="786384" cy="256032"/>
          </a:xfrm>
          <a:prstGeom prst="rect">
            <a:avLst/>
          </a:prstGeom>
          <a:solidFill>
            <a:srgbClr val="162A40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07592" y="416052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210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112264" y="4160520"/>
            <a:ext cx="786384" cy="256032"/>
          </a:xfrm>
          <a:prstGeom prst="rect">
            <a:avLst/>
          </a:prstGeom>
          <a:solidFill>
            <a:srgbClr val="162A40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12264" y="416052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218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916936" y="4160520"/>
            <a:ext cx="786384" cy="256032"/>
          </a:xfrm>
          <a:prstGeom prst="rect">
            <a:avLst/>
          </a:prstGeom>
          <a:solidFill>
            <a:srgbClr val="162A40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16936" y="416052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—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721608" y="4160520"/>
            <a:ext cx="786384" cy="256032"/>
          </a:xfrm>
          <a:prstGeom prst="rect">
            <a:avLst/>
          </a:prstGeom>
          <a:solidFill>
            <a:srgbClr val="162A40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21608" y="416052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—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02920" y="4434840"/>
            <a:ext cx="786384" cy="256032"/>
          </a:xfrm>
          <a:prstGeom prst="rect">
            <a:avLst/>
          </a:prstGeom>
          <a:solidFill>
            <a:srgbClr val="0D9484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43484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Biden 21-24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307592" y="4434840"/>
            <a:ext cx="786384" cy="256032"/>
          </a:xfrm>
          <a:prstGeom prst="rect">
            <a:avLst/>
          </a:prstGeom>
          <a:solidFill>
            <a:srgbClr val="07111F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07592" y="443484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—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112264" y="4434840"/>
            <a:ext cx="786384" cy="256032"/>
          </a:xfrm>
          <a:prstGeom prst="rect">
            <a:avLst/>
          </a:prstGeom>
          <a:solidFill>
            <a:srgbClr val="07111F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12264" y="443484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—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916936" y="4434840"/>
            <a:ext cx="786384" cy="256032"/>
          </a:xfrm>
          <a:prstGeom prst="rect">
            <a:avLst/>
          </a:prstGeom>
          <a:solidFill>
            <a:srgbClr val="07111F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16936" y="443484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296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721608" y="4434840"/>
            <a:ext cx="786384" cy="256032"/>
          </a:xfrm>
          <a:prstGeom prst="rect">
            <a:avLst/>
          </a:prstGeom>
          <a:solidFill>
            <a:srgbClr val="07111F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21608" y="443484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312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663440" y="1024128"/>
            <a:ext cx="4114800" cy="120700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800600" y="10789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BFA9"/>
                </a:solidFill>
              </a:rPr>
              <a:t>Biden (2021–24)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800600" y="131673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291.8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6629400" y="131673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Mean HPI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800600" y="17190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FA6C8"/>
                </a:solidFill>
              </a:rPr>
              <a:t>Highest HPI and highest average mortgage rate (5.25%)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663440" y="2350008"/>
            <a:ext cx="4114800" cy="120700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800600" y="24048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32"/>
                </a:solidFill>
              </a:rPr>
              <a:t>Trump (2017–20)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800600" y="26426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206.3</a:t>
            </a:r>
            <a:endParaRPr lang="en-US" sz="2400" dirty="0"/>
          </a:p>
        </p:txBody>
      </p:sp>
      <p:sp>
        <p:nvSpPr>
          <p:cNvPr id="57" name="Text 55"/>
          <p:cNvSpPr/>
          <p:nvPr/>
        </p:nvSpPr>
        <p:spPr>
          <a:xfrm>
            <a:off x="6629400" y="264261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Mean HPI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800600" y="30449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FA6C8"/>
                </a:solidFill>
              </a:rPr>
              <a:t>Moderate growth with lower average mortgage rate (3.89%)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663440" y="3675888"/>
            <a:ext cx="4114800" cy="120700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4800600" y="37307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37A"/>
                </a:solidFill>
              </a:rPr>
              <a:t>Pre-Trump (2004–16)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800600" y="396849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161.5</a:t>
            </a:r>
            <a:endParaRPr lang="en-US" sz="2400" dirty="0"/>
          </a:p>
        </p:txBody>
      </p:sp>
      <p:sp>
        <p:nvSpPr>
          <p:cNvPr id="62" name="Text 60"/>
          <p:cNvSpPr/>
          <p:nvPr/>
        </p:nvSpPr>
        <p:spPr>
          <a:xfrm>
            <a:off x="6629400" y="396849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Mean HPI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800600" y="43708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FA6C8"/>
                </a:solidFill>
              </a:rPr>
              <a:t>Boom, crisis, and recovery cycle; highest average unemployment (6.57%)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02920" y="3986784"/>
            <a:ext cx="3840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5" name="Image 0" descr="C:\Users\Dell\Desktop\US_Housing_Kaggle_Advanced_Streamlit_Project\final_housing_intelligence_latex_report\figures\olap_period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041648"/>
            <a:ext cx="3730752" cy="850392"/>
          </a:xfrm>
          <a:prstGeom prst="rect">
            <a:avLst/>
          </a:prstGeom>
        </p:spPr>
      </p:pic>
      <p:sp>
        <p:nvSpPr>
          <p:cNvPr id="66" name="Shape 63"/>
          <p:cNvSpPr/>
          <p:nvPr/>
        </p:nvSpPr>
        <p:spPr>
          <a:xfrm>
            <a:off x="4663440" y="4114800"/>
            <a:ext cx="4114800" cy="822960"/>
          </a:xfrm>
          <a:prstGeom prst="rect">
            <a:avLst/>
          </a:prstGeom>
          <a:solidFill>
            <a:srgbClr val="162A40"/>
          </a:solidFill>
          <a:ln w="9525">
            <a:solidFill>
              <a:srgbClr val="1BBFA9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754880" y="4151376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FA6C8"/>
                </a:solidFill>
              </a:rPr>
              <a:t>OLAP Key Insight: Biden-era average HPI is the highest while mortgage-rate pressure is also highest. This supports a mixed interpretation: affordability pressure exists, but supply and timing keep prices resilient.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FORECASTING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Housing Price Forecast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166360" y="987552"/>
            <a:ext cx="36118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C:\Users\Dell\Desktop\US_Housing_Kaggle_Advanced_Streamlit_Project\final_housing_intelligence_latex_report\figures\actual_vs_predicted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1224" y="1042416"/>
            <a:ext cx="3502152" cy="1627632"/>
          </a:xfrm>
          <a:prstGeom prst="rect">
            <a:avLst/>
          </a:prstGeom>
        </p:spPr>
      </p:pic>
      <p:graphicFrame>
        <p:nvGraphicFramePr>
          <p:cNvPr id="7" name="Chart 0" descr=""/>
          <p:cNvGraphicFramePr/>
          <p:nvPr/>
        </p:nvGraphicFramePr>
        <p:xfrm>
          <a:off x="365760" y="1024128"/>
          <a:ext cx="84124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4315968"/>
            <a:ext cx="2697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65760" y="4315968"/>
            <a:ext cx="2697480" cy="54864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43891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Lag Features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460857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HPI_lag1, lag3, lag6, lag12 + rolling means feed recursive prediction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200400" y="4315968"/>
            <a:ext cx="2697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0" y="4315968"/>
            <a:ext cx="2697480" cy="54864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291840" y="43891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Recursive Strategy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291840" y="460857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Each prediction becomes the input for the next step (multi-step chain)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035040" y="4315968"/>
            <a:ext cx="2697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35040" y="4315968"/>
            <a:ext cx="2697480" cy="54864"/>
          </a:xfrm>
          <a:prstGeom prst="rect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126480" y="43891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7 Models Tested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126480" y="460857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Ridge is most stable for long horizon; RF for shorter-term accuracy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65760" y="504748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Forecast is a scenario tool — not guaranteed future truth. Best used alongside theory, OLAP, and evaluation evidence.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DEPLOYMENT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Intelligence Platform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54864" cy="566928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0515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Start Here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14600" y="1051560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14600" y="1051560"/>
            <a:ext cx="54864" cy="566928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42616" y="10515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Overview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51560"/>
            <a:ext cx="54864" cy="566928"/>
          </a:xfrm>
          <a:prstGeom prst="rect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10515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Explore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12280" y="1051560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12280" y="1051560"/>
            <a:ext cx="54864" cy="566928"/>
          </a:xfrm>
          <a:prstGeom prst="rect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0296" y="10515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Data Quality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1719072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1719072"/>
            <a:ext cx="54864" cy="566928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171907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Compare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14600" y="1719072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14600" y="1719072"/>
            <a:ext cx="54864" cy="566928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42616" y="171907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ML Lab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1719072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719072"/>
            <a:ext cx="54864" cy="566928"/>
          </a:xfrm>
          <a:prstGeom prst="rect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171907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Evaluation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12280" y="1719072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12280" y="1719072"/>
            <a:ext cx="54864" cy="566928"/>
          </a:xfrm>
          <a:prstGeom prst="rect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0296" y="171907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Unsupervised Lab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2386584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2386584"/>
            <a:ext cx="54864" cy="566928"/>
          </a:xfrm>
          <a:prstGeom prst="rect">
            <a:avLst/>
          </a:prstGeom>
          <a:solidFill>
            <a:srgbClr val="0D94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" y="238658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Reinforcement Lab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14600" y="2386584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14600" y="2386584"/>
            <a:ext cx="54864" cy="566928"/>
          </a:xfrm>
          <a:prstGeom prst="rect">
            <a:avLst/>
          </a:prstGeom>
          <a:solidFill>
            <a:srgbClr val="0D94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42616" y="238658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Forecast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2386584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2386584"/>
            <a:ext cx="54864" cy="566928"/>
          </a:xfrm>
          <a:prstGeom prst="rect">
            <a:avLst/>
          </a:prstGeom>
          <a:solidFill>
            <a:srgbClr val="7FA6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91456" y="238658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Conclusion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812280" y="2386584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12280" y="2386584"/>
            <a:ext cx="54864" cy="566928"/>
          </a:xfrm>
          <a:prstGeom prst="rect">
            <a:avLst/>
          </a:prstGeom>
          <a:solidFill>
            <a:srgbClr val="7FA6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0296" y="238658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Paper Review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5760" y="3054096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65760" y="3054096"/>
            <a:ext cx="54864" cy="566928"/>
          </a:xfrm>
          <a:prstGeom prst="rect">
            <a:avLst/>
          </a:prstGeom>
          <a:solidFill>
            <a:srgbClr val="3D5A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" y="305409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Code Lab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514600" y="3054096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514600" y="3054096"/>
            <a:ext cx="54864" cy="566928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42616" y="305409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OLAP &amp; Export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63440" y="3054096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63440" y="3054096"/>
            <a:ext cx="54864" cy="566928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91456" y="305409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Exec. Summary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812280" y="3054096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812280" y="3054096"/>
            <a:ext cx="54864" cy="566928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40296" y="305409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Data Dictionary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65760" y="3721608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65760" y="3721608"/>
            <a:ext cx="54864" cy="566928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3776" y="37216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Scenario Sim.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514600" y="3721608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2514600" y="3721608"/>
            <a:ext cx="54864" cy="566928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642616" y="37216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Prod. Readiness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663440" y="3721608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663440" y="3721608"/>
            <a:ext cx="54864" cy="566928"/>
          </a:xfrm>
          <a:prstGeom prst="rect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91456" y="37216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Experiment Tracker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812280" y="3721608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812280" y="3721608"/>
            <a:ext cx="54864" cy="566928"/>
          </a:xfrm>
          <a:prstGeom prst="rect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40296" y="37216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Model Registry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65760" y="4389120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365760" y="4389120"/>
            <a:ext cx="54864" cy="566928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93776" y="43891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Data Pipeline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2514600" y="4389120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2514600" y="4389120"/>
            <a:ext cx="54864" cy="566928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642616" y="43891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Business Impact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736592" y="1051560"/>
            <a:ext cx="404164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2" name="Image 0" descr="C:\Users\Dell\Desktop\US_Housing_Kaggle_Advanced_Streamlit_Project\final_housing_intelligence_latex_report\app_screenshots\app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1456" y="1106424"/>
            <a:ext cx="3931920" cy="1764792"/>
          </a:xfrm>
          <a:prstGeom prst="rect">
            <a:avLst/>
          </a:prstGeom>
        </p:spPr>
      </p:pic>
      <p:sp>
        <p:nvSpPr>
          <p:cNvPr id="73" name="Shape 70"/>
          <p:cNvSpPr/>
          <p:nvPr/>
        </p:nvSpPr>
        <p:spPr>
          <a:xfrm>
            <a:off x="4736592" y="3090672"/>
            <a:ext cx="404164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4" name="Image 1" descr="C:\Users\Dell\Desktop\US_Housing_Kaggle_Advanced_Streamlit_Project\final_housing_intelligence_latex_report\app_screenshots\app_evalu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3145536"/>
            <a:ext cx="3931920" cy="1581912"/>
          </a:xfrm>
          <a:prstGeom prst="rect">
            <a:avLst/>
          </a:prstGeom>
        </p:spPr>
      </p:pic>
      <p:sp>
        <p:nvSpPr>
          <p:cNvPr id="75" name="Shape 71"/>
          <p:cNvSpPr/>
          <p:nvPr/>
        </p:nvSpPr>
        <p:spPr>
          <a:xfrm>
            <a:off x="365760" y="5047488"/>
            <a:ext cx="8412480" cy="438912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6" name="Text 72"/>
          <p:cNvSpPr/>
          <p:nvPr/>
        </p:nvSpPr>
        <p:spPr>
          <a:xfrm>
            <a:off x="457200" y="50840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BFA9"/>
                </a:solidFill>
              </a:rPr>
              <a:t>22 interactive pages  ·  Dark/Light mode  ·  AI Chatbot (OpenAI + local fallback)  ·  Download-ready reports  ·  Model Registry &amp; Governance  ·  OLAP 3D Cube  ·  Scenario Simulator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DASHBOARD FEATURES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Capability Map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24128"/>
            <a:ext cx="2011680" cy="54864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93B"/>
                </a:solidFill>
              </a:rPr>
              <a:t>Data Foundation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938528"/>
            <a:ext cx="1645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2029968"/>
            <a:ext cx="128016" cy="12801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84248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EDA &amp; Time-Series Charts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" y="2688336"/>
            <a:ext cx="128016" cy="12801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642616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Correlation Matrix (zoom)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" y="3346704"/>
            <a:ext cx="128016" cy="12801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300984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Data Quality Checks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" y="4005072"/>
            <a:ext cx="128016" cy="12801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959352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Data Dictionary (27 cols)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14600" y="1024128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14600" y="1024128"/>
            <a:ext cx="2011680" cy="54864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1097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606040" y="15361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93B"/>
                </a:solidFill>
              </a:rPr>
              <a:t>Machine Learning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97480" y="1938528"/>
            <a:ext cx="1645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24328" y="2029968"/>
            <a:ext cx="128016" cy="128016"/>
          </a:xfrm>
          <a:prstGeom prst="ellipse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07208" y="1984248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8 Regression Models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624328" y="2688336"/>
            <a:ext cx="128016" cy="128016"/>
          </a:xfrm>
          <a:prstGeom prst="ellipse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07208" y="2642616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5 Classifier Models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624328" y="3346704"/>
            <a:ext cx="128016" cy="128016"/>
          </a:xfrm>
          <a:prstGeom prst="ellipse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07208" y="3300984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Feature Importance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624328" y="4005072"/>
            <a:ext cx="128016" cy="128016"/>
          </a:xfrm>
          <a:prstGeom prst="ellipse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07208" y="3959352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Cross-Validation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1024128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1024128"/>
            <a:ext cx="2011680" cy="54864"/>
          </a:xfrm>
          <a:prstGeom prst="rect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1097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754880" y="15361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93B"/>
                </a:solidFill>
              </a:rPr>
              <a:t>Advanced Analytics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1938528"/>
            <a:ext cx="1645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73168" y="2029968"/>
            <a:ext cx="128016" cy="128016"/>
          </a:xfrm>
          <a:prstGeom prst="ellipse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1984248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KMeans / DBSCAN / PCA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73168" y="2688336"/>
            <a:ext cx="128016" cy="128016"/>
          </a:xfrm>
          <a:prstGeom prst="ellipse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56048" y="2642616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IsolationForest Anomalies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73168" y="3346704"/>
            <a:ext cx="128016" cy="128016"/>
          </a:xfrm>
          <a:prstGeom prst="ellipse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56048" y="3300984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Q-Learning Simulation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73168" y="4005072"/>
            <a:ext cx="128016" cy="128016"/>
          </a:xfrm>
          <a:prstGeom prst="ellipse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56048" y="3959352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Multi-step Forecasting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812280" y="1024128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812280" y="1024128"/>
            <a:ext cx="2011680" cy="54864"/>
          </a:xfrm>
          <a:prstGeom prst="rect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12280" y="1097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6903720" y="15361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93B"/>
                </a:solidFill>
              </a:rPr>
              <a:t>Governance &amp; BI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995160" y="1938528"/>
            <a:ext cx="1645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922008" y="2029968"/>
            <a:ext cx="128016" cy="128016"/>
          </a:xfrm>
          <a:prstGeom prst="ellipse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04888" y="1984248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3D OLAP Block Cube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922008" y="2688336"/>
            <a:ext cx="128016" cy="128016"/>
          </a:xfrm>
          <a:prstGeom prst="ellipse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04888" y="2642616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Model Registry &amp; Card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922008" y="3346704"/>
            <a:ext cx="128016" cy="128016"/>
          </a:xfrm>
          <a:prstGeom prst="ellipse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04888" y="3300984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Drift Monitoring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922008" y="4005072"/>
            <a:ext cx="128016" cy="128016"/>
          </a:xfrm>
          <a:prstGeom prst="ellipse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04888" y="3959352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Experiment Tracker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02920" y="4160520"/>
            <a:ext cx="2606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58" name="Image 0" descr="C:\Users\Dell\Desktop\US_Housing_Kaggle_Advanced_Streamlit_Project\final_housing_intelligence_latex_report\app_screenshots\app_mode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215384"/>
            <a:ext cx="2496312" cy="640080"/>
          </a:xfrm>
          <a:prstGeom prst="rect">
            <a:avLst/>
          </a:prstGeom>
        </p:spPr>
      </p:pic>
      <p:sp>
        <p:nvSpPr>
          <p:cNvPr id="59" name="Shape 56"/>
          <p:cNvSpPr/>
          <p:nvPr/>
        </p:nvSpPr>
        <p:spPr>
          <a:xfrm>
            <a:off x="3337560" y="4160520"/>
            <a:ext cx="2606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0" name="Image 1" descr="C:\Users\Dell\Desktop\US_Housing_Kaggle_Advanced_Streamlit_Project\final_housing_intelligence_latex_report\app_screenshots\app_ol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424" y="4215384"/>
            <a:ext cx="2496312" cy="640080"/>
          </a:xfrm>
          <a:prstGeom prst="rect">
            <a:avLst/>
          </a:prstGeom>
        </p:spPr>
      </p:pic>
      <p:sp>
        <p:nvSpPr>
          <p:cNvPr id="61" name="Shape 57"/>
          <p:cNvSpPr/>
          <p:nvPr/>
        </p:nvSpPr>
        <p:spPr>
          <a:xfrm>
            <a:off x="6172200" y="4160520"/>
            <a:ext cx="2606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2" name="Image 2" descr="C:\Users\Dell\Desktop\US_Housing_Kaggle_Advanced_Streamlit_Project\final_housing_intelligence_latex_report\app_screenshots\app_paper_revie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4215384"/>
            <a:ext cx="2496312" cy="640080"/>
          </a:xfrm>
          <a:prstGeom prst="rect">
            <a:avLst/>
          </a:prstGeom>
        </p:spPr>
      </p:pic>
      <p:sp>
        <p:nvSpPr>
          <p:cNvPr id="63" name="Shape 58"/>
          <p:cNvSpPr/>
          <p:nvPr/>
        </p:nvSpPr>
        <p:spPr>
          <a:xfrm>
            <a:off x="365760" y="5029200"/>
            <a:ext cx="841248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4" name="Text 59"/>
          <p:cNvSpPr/>
          <p:nvPr/>
        </p:nvSpPr>
        <p:spPr>
          <a:xfrm>
            <a:off x="457200" y="506577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BFA9"/>
                </a:solidFill>
              </a:rPr>
              <a:t>AI Chatbot (OpenAI + local fallback)  ·  Scenario Simulator  ·  Downloadable Executive Report  ·  Business Impact Translator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THEORY VALIDATION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DiPasquale-Wheaton Theory Check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59436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51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FA6C8"/>
                </a:solidFill>
              </a:rPr>
              <a:t>The DiPasquale-Wheaton four-quadrant model links real-estate prices to asset markets, rental demand, construction output, and property stock adjustment. We test four core relationships: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7315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739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1FB"/>
                </a:solidFill>
              </a:rPr>
              <a:t>Price Momentum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084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A6C8"/>
                </a:solidFill>
              </a:rPr>
              <a:t>Lagged and smoothed HPI → higher current HPI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931920" y="1938528"/>
            <a:ext cx="2743200" cy="128016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1920" y="1938528"/>
            <a:ext cx="2743200" cy="128016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184708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BFA9"/>
                </a:solidFill>
              </a:rPr>
              <a:t>+1.00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589520" y="1883664"/>
            <a:ext cx="1097280" cy="384048"/>
          </a:xfrm>
          <a:prstGeom prst="rect">
            <a:avLst/>
          </a:prstGeom>
          <a:solidFill>
            <a:srgbClr val="1BBFA9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18836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BFA9"/>
                </a:solidFill>
              </a:rPr>
              <a:t>STRONGLY SUPPORTS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65760" y="2523744"/>
            <a:ext cx="8412480" cy="7315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2578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1FB"/>
                </a:solidFill>
              </a:rPr>
              <a:t>Income-Demand Theory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8895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A6C8"/>
                </a:solidFill>
              </a:rPr>
              <a:t>Stronger income → higher HPI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931920" y="2743200"/>
            <a:ext cx="2743200" cy="128016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0" y="2743200"/>
            <a:ext cx="2414016" cy="128016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2651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BFA9"/>
                </a:solidFill>
              </a:rPr>
              <a:t>+0.88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589520" y="2688336"/>
            <a:ext cx="1097280" cy="384048"/>
          </a:xfrm>
          <a:prstGeom prst="rect">
            <a:avLst/>
          </a:prstGeom>
          <a:solidFill>
            <a:srgbClr val="1BBFA9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0" y="268833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BFA9"/>
                </a:solidFill>
              </a:rPr>
              <a:t>SUPPORTS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65760" y="3328416"/>
            <a:ext cx="8412480" cy="7315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1FB"/>
                </a:solidFill>
              </a:rPr>
              <a:t>Affordability Pressure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6941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A6C8"/>
                </a:solidFill>
              </a:rPr>
              <a:t>Rates pressure affordability but prices may lag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931920" y="3547872"/>
            <a:ext cx="2743200" cy="128016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31920" y="3547872"/>
            <a:ext cx="1289304" cy="128016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345643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BFA9"/>
                </a:solidFill>
              </a:rPr>
              <a:t>+0.47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589520" y="3493008"/>
            <a:ext cx="1097280" cy="384048"/>
          </a:xfrm>
          <a:prstGeom prst="rect">
            <a:avLst/>
          </a:prstGeom>
          <a:solidFill>
            <a:srgbClr val="1BBFA9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0" y="34930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BFA9"/>
                </a:solidFill>
              </a:rPr>
              <a:t>MIXED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65760" y="4133088"/>
            <a:ext cx="8412480" cy="7315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1FB"/>
                </a:solidFill>
              </a:rPr>
              <a:t>Supply-Demand Theory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4498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A6C8"/>
                </a:solidFill>
              </a:rPr>
              <a:t>Inventory/supply data needed for full validation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589520" y="4297680"/>
            <a:ext cx="1097280" cy="384048"/>
          </a:xfrm>
          <a:prstGeom prst="rect">
            <a:avLst/>
          </a:prstGeom>
          <a:solidFill>
            <a:srgbClr val="E8637A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0" y="42976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637A"/>
                </a:solidFill>
              </a:rPr>
              <a:t>MISSING FEATURE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65760" y="4956048"/>
            <a:ext cx="8412480" cy="36576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02920" y="4992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BFA9"/>
                </a:solidFill>
              </a:rPr>
              <a:t>Result: the data strongly supports price persistence and income-demand logic. Rate pressure is mixed because prices can stay elevated when supply and timing slow the market response.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HISTORICAL VALIDATION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Period Comparison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731520"/>
          </a:xfrm>
          <a:prstGeom prst="rect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424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Pre-Trump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3167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2004–2016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23160" y="1042416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Boom, crisis, and recovery years produce the lowest average HPI in the OLAP summary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852160" y="1042416"/>
            <a:ext cx="1280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161.5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078992"/>
            <a:ext cx="1417320" cy="493776"/>
          </a:xfrm>
          <a:prstGeom prst="rect">
            <a:avLst/>
          </a:prstGeom>
          <a:solidFill>
            <a:srgbClr val="FEF9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69480" y="1078992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A8A04"/>
                </a:solidFill>
              </a:rPr>
              <a:t>Reference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810512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810512"/>
            <a:ext cx="54864" cy="731520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847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Trump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1214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2017–2020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23160" y="1847088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Average HPI increases while average mortgage-rate pressure is lower at 3.89%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852160" y="1847088"/>
            <a:ext cx="1280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206.3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269480" y="1883664"/>
            <a:ext cx="1417320" cy="493776"/>
          </a:xfrm>
          <a:prstGeom prst="rect">
            <a:avLst/>
          </a:prstGeom>
          <a:solidFill>
            <a:srgbClr val="FEF9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9480" y="1883664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A8A04"/>
                </a:solidFill>
              </a:rPr>
              <a:t>Higher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615184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615184"/>
            <a:ext cx="54864" cy="731520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Biden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2926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2021–2024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423160" y="2651760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Highest average HPI and highest average mortgage-rate pressure at 5.25%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52160" y="2651760"/>
            <a:ext cx="1280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291.8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269480" y="2688336"/>
            <a:ext cx="1417320" cy="493776"/>
          </a:xfrm>
          <a:prstGeom prst="rect">
            <a:avLst/>
          </a:prstGeom>
          <a:solidFill>
            <a:srgbClr val="FEF9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9480" y="2688336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A8A04"/>
                </a:solidFill>
              </a:rPr>
              <a:t>Highest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419856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419856"/>
            <a:ext cx="54864" cy="731520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Biden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37307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2021–2024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423160" y="3456432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Lowest average unemployment across the three administration periods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52160" y="3456432"/>
            <a:ext cx="1280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4.17%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269480" y="3493008"/>
            <a:ext cx="1417320" cy="493776"/>
          </a:xfrm>
          <a:prstGeom prst="rect">
            <a:avLst/>
          </a:prstGeom>
          <a:solidFill>
            <a:srgbClr val="FEF9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69480" y="3493008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A8A04"/>
                </a:solidFill>
              </a:rPr>
              <a:t>Lowest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4224528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4224528"/>
            <a:ext cx="54864" cy="731520"/>
          </a:xfrm>
          <a:prstGeom prst="rect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261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Biden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" y="45354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2021–2024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423160" y="4261104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Highest average building permits, showing that price levels and supply activity can rise together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852160" y="4261104"/>
            <a:ext cx="1280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1627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7269480" y="4297680"/>
            <a:ext cx="1417320" cy="493776"/>
          </a:xfrm>
          <a:prstGeom prst="rect">
            <a:avLst/>
          </a:prstGeom>
          <a:solidFill>
            <a:srgbClr val="FEF9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69480" y="4297680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A8A04"/>
                </a:solidFill>
              </a:rPr>
              <a:t>Highest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65760" y="5029200"/>
            <a:ext cx="841248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506577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BFA9"/>
                </a:solidFill>
              </a:rPr>
              <a:t>OLAP result: the Biden period has both the highest average HPI and the highest mortgage-rate pressure, supporting a mixed affordability-and-supply interpretation.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PRODUCTION READINESS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Governance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897880" y="841248"/>
            <a:ext cx="2880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C:\Users\Dell\Desktop\US_Housing_Kaggle_Advanced_Streamlit_Project\final_housing_intelligence_latex_report\app_screenshots\app_govern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2744" y="896112"/>
            <a:ext cx="2770632" cy="9875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051560"/>
            <a:ext cx="4206240" cy="18745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BFA9"/>
                </a:solidFill>
              </a:rPr>
              <a:t>✅  Data Validation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1581912"/>
            <a:ext cx="128016" cy="12801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4944" y="15361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Row count verification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02920" y="1828800"/>
            <a:ext cx="128016" cy="12801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" y="1783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Duplicate detection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02920" y="2075688"/>
            <a:ext cx="128016" cy="12801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" y="20299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Missing data profiling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02920" y="2322576"/>
            <a:ext cx="128016" cy="12801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4944" y="22768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Infinite value check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02920" y="2569464"/>
            <a:ext cx="128016" cy="12801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4944" y="25237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Date column detection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754880" y="1051560"/>
            <a:ext cx="4206240" cy="18745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89204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B8E0"/>
                </a:solidFill>
              </a:rPr>
              <a:t>📡  Drift Monitoring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892040" y="1581912"/>
            <a:ext cx="128016" cy="128016"/>
          </a:xfrm>
          <a:prstGeom prst="ellipse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84064" y="15361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Baseline vs recent split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892040" y="1828800"/>
            <a:ext cx="128016" cy="128016"/>
          </a:xfrm>
          <a:prstGeom prst="ellipse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84064" y="1783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Mean shift % per feature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892040" y="2075688"/>
            <a:ext cx="128016" cy="128016"/>
          </a:xfrm>
          <a:prstGeom prst="ellipse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84064" y="20299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Z-score drift alert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892040" y="2322576"/>
            <a:ext cx="128016" cy="128016"/>
          </a:xfrm>
          <a:prstGeom prst="ellipse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84064" y="22768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High/Moderate/Stable labels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892040" y="2569464"/>
            <a:ext cx="128016" cy="128016"/>
          </a:xfrm>
          <a:prstGeom prst="ellipse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84064" y="25237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Auto-flagged review candidates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65760" y="3063240"/>
            <a:ext cx="4206240" cy="18745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02920" y="3154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832"/>
                </a:solidFill>
              </a:rPr>
              <a:t>📋  Model Card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02920" y="3593592"/>
            <a:ext cx="128016" cy="128016"/>
          </a:xfrm>
          <a:prstGeom prst="ellipse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94944" y="35478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Intended use statement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502920" y="3840480"/>
            <a:ext cx="128016" cy="128016"/>
          </a:xfrm>
          <a:prstGeom prst="ellipse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94944" y="37947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Performance metrics logged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502920" y="4087368"/>
            <a:ext cx="128016" cy="128016"/>
          </a:xfrm>
          <a:prstGeom prst="ellipse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4944" y="40416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Limitation documentation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502920" y="4334256"/>
            <a:ext cx="128016" cy="128016"/>
          </a:xfrm>
          <a:prstGeom prst="ellipse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94944" y="42885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Governance recommendation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502920" y="4581144"/>
            <a:ext cx="128016" cy="128016"/>
          </a:xfrm>
          <a:prstGeom prst="ellipse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94944" y="45354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Download-ready Markdown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754880" y="3063240"/>
            <a:ext cx="4206240" cy="18745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4892040" y="3154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37A"/>
                </a:solidFill>
              </a:rPr>
              <a:t>🧪  Experiment Tracker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4892040" y="3593592"/>
            <a:ext cx="128016" cy="128016"/>
          </a:xfrm>
          <a:prstGeom prst="ellipse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084064" y="35478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Run ID &amp; timestamp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4892040" y="3840480"/>
            <a:ext cx="128016" cy="128016"/>
          </a:xfrm>
          <a:prstGeom prst="ellipse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084064" y="37947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Model, target, features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4892040" y="4087368"/>
            <a:ext cx="128016" cy="128016"/>
          </a:xfrm>
          <a:prstGeom prst="ellipse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084064" y="40416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All metric columns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4892040" y="4334256"/>
            <a:ext cx="128016" cy="128016"/>
          </a:xfrm>
          <a:prstGeom prst="ellipse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084064" y="42885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Champion selection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4892040" y="4581144"/>
            <a:ext cx="128016" cy="128016"/>
          </a:xfrm>
          <a:prstGeom prst="ellipse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084064" y="45354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CSV export for audit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365760" y="4956048"/>
            <a:ext cx="8412480" cy="347472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6" name="Text 53"/>
          <p:cNvSpPr/>
          <p:nvPr/>
        </p:nvSpPr>
        <p:spPr>
          <a:xfrm>
            <a:off x="502920" y="4992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BFA9"/>
                </a:solidFill>
              </a:rPr>
              <a:t>This project includes not just analytics — it adds validation, monitoring, explainability, scenario testing, and full documentation, matching enterprise data science standards.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SCENARIO SIMULATOR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Scenario Analysis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The Scenario Simulator changes one macro feature at a time and estimates how the trained regression model responds. Useful for explaining sensitivity to stakeholders.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44752"/>
            <a:ext cx="2697480" cy="54864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36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</a:rPr>
              <a:t>+10% Median Income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86537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Feature: Median_Income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5488" y="21488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Baseline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23500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312.4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83080" y="21488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Scenario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83080" y="23500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318.2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75488" y="2779776"/>
            <a:ext cx="246888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7797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Change: +5.8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" y="3236976"/>
            <a:ext cx="24688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A 10% income rise pushes predicted HPI up ~5.8 points. Affordability improves when income grows faster than rates.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1444752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444752"/>
            <a:ext cx="2697480" cy="54864"/>
          </a:xfrm>
          <a:prstGeom prst="rect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1536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</a:rPr>
              <a:t>+2pt Mortgage Rate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10128" y="186537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Feature: Mortgage_Rate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10128" y="21488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Baseline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10128" y="23500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312.4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617720" y="21488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Scenario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17720" y="23500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305.1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3310128" y="2779776"/>
            <a:ext cx="246888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27797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Change: −7.3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310128" y="3236976"/>
            <a:ext cx="24688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A 2-point rate hike reduces predicted HPI by ~7.3. Larger than income effect, showing rate sensitivity.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35040" y="1444752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0" y="1444752"/>
            <a:ext cx="2697480" cy="54864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44768" y="1536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</a:rPr>
              <a:t>−5% Unemployment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44768" y="186537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Feature: Unemployment_Rate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144768" y="21488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Baseline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44768" y="23500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312.4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452360" y="21488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Scenario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452360" y="23500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316.8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144768" y="2779776"/>
            <a:ext cx="246888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44768" y="27797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Change: +4.4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144768" y="3236976"/>
            <a:ext cx="24688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Falling unemployment supports HPI through stronger demand — aligns with DiPasquale-Wheaton labor theory.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5760" y="502920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All scenarios use the trained Ridge regression model on the most recent observation. Results are directional estimates, not causal predictions.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LITERATURE 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Review &amp; Real-Life Benchmarking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91440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24128"/>
            <a:ext cx="54864" cy="914400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BFA9"/>
                </a:solidFill>
              </a:rPr>
              <a:t>DiPasquale &amp; Wheaton (2015)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33502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Claim: Four-quadrant framework: prices connect to demand, asset markets, construction, and supply adjustment.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591056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Our result: 3/4 theory checks supported; supply constraints explain 2022–24 resilience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1325880" cy="384048"/>
          </a:xfrm>
          <a:prstGeom prst="rect">
            <a:avLst/>
          </a:prstGeom>
          <a:solidFill>
            <a:srgbClr val="1BBFA9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BFA9"/>
                </a:solidFill>
              </a:rPr>
              <a:t>Confirms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029968"/>
            <a:ext cx="8412480" cy="91440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029968"/>
            <a:ext cx="54864" cy="914400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848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BFA9"/>
                </a:solidFill>
              </a:rPr>
              <a:t>Journal of Housing Economics (2025)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34086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Claim: Mortgage-rate shocks have measurable effects on housing activity, sometimes larger than on prices.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2596896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Our result: Rate correlation: −0.44; RF model uses rate as 5th most important feature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0" y="2286000"/>
            <a:ext cx="1325880" cy="384048"/>
          </a:xfrm>
          <a:prstGeom prst="rect">
            <a:avLst/>
          </a:prstGeom>
          <a:solidFill>
            <a:srgbClr val="1BBFA9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22860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BFA9"/>
                </a:solidFill>
              </a:rPr>
              <a:t>Confirms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035808"/>
            <a:ext cx="8412480" cy="91440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035808"/>
            <a:ext cx="54864" cy="914400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906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A832"/>
                </a:solidFill>
              </a:rPr>
              <a:t>NAR Existing-Home Sales (March 2026)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334670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Claim: Sales fell 3.6% MoM; median price +1.4% YoY to $408,800; inventory 4.1 months.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3602736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Our result: Dataset shows HPI positive but slowing — consistent with soft-landing narrative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0" y="3291840"/>
            <a:ext cx="1325880" cy="384048"/>
          </a:xfrm>
          <a:prstGeom prst="rect">
            <a:avLst/>
          </a:prstGeom>
          <a:solidFill>
            <a:srgbClr val="F0A832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32918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A832"/>
                </a:solidFill>
              </a:rPr>
              <a:t>Consistent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041648"/>
            <a:ext cx="8412480" cy="91440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041648"/>
            <a:ext cx="54864" cy="914400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96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A832"/>
                </a:solidFill>
              </a:rPr>
              <a:t>FRED Case-Shiller Index (Jan 2026)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435254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Claim: National home price index at 326.6 — near all-time highs despite rate environment.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4608576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Our result: HPI positive trend maintained through 2024 in our dataset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315200" y="4297680"/>
            <a:ext cx="1325880" cy="384048"/>
          </a:xfrm>
          <a:prstGeom prst="rect">
            <a:avLst/>
          </a:prstGeom>
          <a:solidFill>
            <a:srgbClr val="F0A832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0" y="42976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A832"/>
                </a:solidFill>
              </a:rPr>
              <a:t>Consistent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5029200"/>
            <a:ext cx="8412480" cy="347472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2920" y="50657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BFA9"/>
                </a:solidFill>
              </a:rPr>
              <a:t>Conclusion: the dataset broadly aligns with current academic research and real 2026 market data — a positive project result.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BUSINESS IMPACT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Stakeholder Impact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24128"/>
            <a:ext cx="4206240" cy="54864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4128" y="11155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Analysts &amp; Economists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" y="137160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BFA9"/>
                </a:solidFill>
              </a:rPr>
              <a:t>Quantify macro drivers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645920"/>
            <a:ext cx="3931920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773936"/>
            <a:ext cx="128016" cy="12801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7190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Correlation matrix identifies key signals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139696"/>
            <a:ext cx="128016" cy="12801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20848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Feature importance explains model logic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505456"/>
            <a:ext cx="128016" cy="12801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24505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Theory checks validate assumptions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1024128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024128"/>
            <a:ext cx="4206240" cy="54864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1155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🏦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13248" y="11155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Institutional Investors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13248" y="137160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832"/>
                </a:solidFill>
              </a:rPr>
              <a:t>Regime-aware decisions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92040" y="1645920"/>
            <a:ext cx="3931920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92040" y="1773936"/>
            <a:ext cx="128016" cy="128016"/>
          </a:xfrm>
          <a:prstGeom prst="ellipse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84064" y="17190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KMeans identifies 3 market regimes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92040" y="2139696"/>
            <a:ext cx="128016" cy="128016"/>
          </a:xfrm>
          <a:prstGeom prst="ellipse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84064" y="20848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RL simulation learns best policy per state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92040" y="2505456"/>
            <a:ext cx="128016" cy="128016"/>
          </a:xfrm>
          <a:prstGeom prst="ellipse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84064" y="24505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OLAP segments by period and geography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081528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081528"/>
            <a:ext cx="4206240" cy="54864"/>
          </a:xfrm>
          <a:prstGeom prst="rect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1729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024128" y="31729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Policymakers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24128" y="342900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B8E0"/>
                </a:solidFill>
              </a:rPr>
              <a:t>Affordability monitoring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" y="3703320"/>
            <a:ext cx="3931920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3831336"/>
            <a:ext cx="128016" cy="128016"/>
          </a:xfrm>
          <a:prstGeom prst="ellipse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" y="37764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Income-to-Mortgage ratio dashboard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920" y="4197096"/>
            <a:ext cx="128016" cy="128016"/>
          </a:xfrm>
          <a:prstGeom prst="ellipse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" y="41422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Scenario simulator for rate impact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02920" y="4562856"/>
            <a:ext cx="128016" cy="128016"/>
          </a:xfrm>
          <a:prstGeom prst="ellipse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944" y="45079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Historical period benchmarking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3081528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3081528"/>
            <a:ext cx="4206240" cy="54864"/>
          </a:xfrm>
          <a:prstGeom prst="rect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31729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5413248" y="31729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Project Evaluators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13248" y="342900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637A"/>
                </a:solidFill>
              </a:rPr>
              <a:t>Complete DS workflow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92040" y="3703320"/>
            <a:ext cx="3931920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92040" y="3831336"/>
            <a:ext cx="128016" cy="128016"/>
          </a:xfrm>
          <a:prstGeom prst="ellipse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84064" y="37764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CRISP-DM all 6 phases executed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92040" y="4197096"/>
            <a:ext cx="128016" cy="128016"/>
          </a:xfrm>
          <a:prstGeom prst="ellipse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84064" y="41422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Governance, drift, model card included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92040" y="4562856"/>
            <a:ext cx="128016" cy="128016"/>
          </a:xfrm>
          <a:prstGeom prst="ellipse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84064" y="45079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Paper review + real-life benchmarking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65760" y="5029200"/>
            <a:ext cx="841248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506577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BFA9"/>
                </a:solidFill>
              </a:rPr>
              <a:t>The app turns housing data into a decision-ready signal — connecting data quality, model performance, segment analysis, scenario testing, and real-world theory.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KEY FINDINGS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315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402336" cy="40233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87552" y="1078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BFA9"/>
                </a:solidFill>
              </a:rPr>
              <a:t>Linear trend model wins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137160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FA6C8"/>
                </a:solidFill>
              </a:rPr>
              <a:t>Linear Regression (R² 0.999, MAE 0.661, RMSE 0.797) outperforms Ridge and tree models because lagged and smoothed HPI capture the rising chronological trend.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8412480" cy="7315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993392"/>
            <a:ext cx="402336" cy="402336"/>
          </a:xfrm>
          <a:prstGeom prst="ellipse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87552" y="1883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832"/>
                </a:solidFill>
              </a:rPr>
              <a:t>Price persistence is strongest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87552" y="21762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FA6C8"/>
                </a:solidFill>
              </a:rPr>
              <a:t>Smoothed HPI, HPI_lag1, and HPI_lag3 show near-perfect correlation with the target, confirming strong month-to-month housing-price momentum.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633472"/>
            <a:ext cx="8412480" cy="7315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798064"/>
            <a:ext cx="402336" cy="402336"/>
          </a:xfrm>
          <a:prstGeom prst="ellipse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98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87552" y="2688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B8E0"/>
                </a:solidFill>
              </a:rPr>
              <a:t>Momentum is essential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7552" y="298094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FA6C8"/>
                </a:solidFill>
              </a:rPr>
              <a:t>Median income remains a strong explanatory context variable (r = 0.88). Model score is not the full story; economics still explains why the trend exists.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438144"/>
            <a:ext cx="8412480" cy="7315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602736"/>
            <a:ext cx="402336" cy="402336"/>
          </a:xfrm>
          <a:prstGeom prst="ellipse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87552" y="3493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37A"/>
                </a:solidFill>
              </a:rPr>
              <a:t>Tree models show extrapolation risk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7552" y="378561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FA6C8"/>
                </a:solidFill>
              </a:rPr>
              <a:t>Random Forest, Gradient Boosting, Decision Tree, KNN, and SVR perform weakly on the final test period, proving why chronological diagnostics are essential.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242816"/>
            <a:ext cx="8412480" cy="7315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407408"/>
            <a:ext cx="402336" cy="402336"/>
          </a:xfrm>
          <a:prstGeom prst="ellipse">
            <a:avLst/>
          </a:prstGeom>
          <a:solidFill>
            <a:srgbClr val="0D94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407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87552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4"/>
                </a:solidFill>
              </a:rPr>
              <a:t>OLAP supports a mixed conclusion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87552" y="459028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FA6C8"/>
                </a:solidFill>
              </a:rPr>
              <a:t>The Biden period has the highest average HPI and highest average mortgage rate, so price resilience must be interpreted with supply, timing, and market inertia.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FUTURE WORK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Directions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Current Limitations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114800" cy="7315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⚠ National-level only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6733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Geographic heterogeneity across states/cities is not captured — regional markets behave very differently.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4114800" cy="7315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40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⚠ Supply feature missing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496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Housing inventory/supply variable is absent, preventing a complete DiPasquale-Wheaton validation.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114800" cy="7315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063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⚠ No causal inference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3192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Correlation and ML prediction do not prove causation — observational study limitations apply.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840480"/>
            <a:ext cx="4114800" cy="7315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886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⚠ Static dataset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41422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No live data feed; dataset requires manual update for real-time monitoring.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63440" y="10241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Future Development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137160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1554480"/>
            <a:ext cx="128016" cy="12801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140817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Regional Data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56048" y="162763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State/city level granularity via Zillow, Redfin, or Census micro-datasets.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1938528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2121408"/>
            <a:ext cx="128016" cy="12801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197510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Live API Integration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56048" y="219456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Automated FRED, NAR, Census monthly refresh for real-time monitoring.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63440" y="2505456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688336"/>
            <a:ext cx="128016" cy="128016"/>
          </a:xfrm>
          <a:prstGeom prst="ellipse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254203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SHAP Explainability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56048" y="276148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Shapley values for granular per-prediction feature attribution.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3072384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3255264"/>
            <a:ext cx="128016" cy="128016"/>
          </a:xfrm>
          <a:prstGeom prst="ellipse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310896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ARIMA / LSTM Forecasting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56048" y="332841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Dedicated time-series models for improved long-horizon accuracy.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63440" y="3639312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822192"/>
            <a:ext cx="128016" cy="128016"/>
          </a:xfrm>
          <a:prstGeom prst="ellipse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367588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Cloud Deployment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56048" y="389534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Streamlit Cloud or AWS with authentication, persistent DB, monitoring.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63440" y="420624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4389120"/>
            <a:ext cx="128016" cy="128016"/>
          </a:xfrm>
          <a:prstGeom prst="ellipse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56048" y="424281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Model Drift Alerts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56048" y="446227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Automated retraining triggers when distribution shift exceeds thresholds.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0D1E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CONCLUSION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47548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Conclusion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8412480" cy="11887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645920"/>
            <a:ext cx="8046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E8F1FB"/>
                </a:solidFill>
              </a:rPr>
              <a:t>"The U.S. housing market is best explained by combining price momentum, income-demand context, model diagnostics, OLAP segmentation, and paper-review theory. The final evidence shows strong trend persistence, but also warns that popular tree models may fail when the test period moves beyond the training range."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880360"/>
            <a:ext cx="1965960" cy="91440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2926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0.999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5760" y="34015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FA6C8"/>
                </a:solidFill>
              </a:rPr>
              <a:t>Best Model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FA6C8"/>
                </a:solidFill>
              </a:rPr>
              <a:t>(LinearReg.)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2880360"/>
            <a:ext cx="1965960" cy="91440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68880" y="2926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0.797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468880" y="34015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FA6C8"/>
                </a:solidFill>
              </a:rPr>
              <a:t>Best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FA6C8"/>
                </a:solidFill>
              </a:rPr>
              <a:t>RMSE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2880360"/>
            <a:ext cx="1965960" cy="91440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0" y="2926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C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291.8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72000" y="34015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FA6C8"/>
                </a:solidFill>
              </a:rPr>
              <a:t>Biden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FA6C8"/>
                </a:solidFill>
              </a:rPr>
              <a:t>Avg HPI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75120" y="2880360"/>
            <a:ext cx="1965960" cy="91440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2926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675120" y="34015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FA6C8"/>
                </a:solidFill>
              </a:rPr>
              <a:t>Dashboard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FA6C8"/>
                </a:solidFill>
              </a:rPr>
              <a:t>Pages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913632"/>
            <a:ext cx="8412480" cy="74980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96849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1FB"/>
                </a:solidFill>
              </a:rPr>
              <a:t>Ayoub Naouech  ·  Rayen Belhadj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42793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IT Business School · Tunisia  ·  Data Mining &amp; Machine Learning  ·  2025–2026  ·  Supervisor: Kaouether Ben Ali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477316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D5A73"/>
                </a:solidFill>
              </a:rPr>
              <a:t>Built with: Python · scikit-learn · Streamlit · Plotly · PptxGenJS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65760" y="497433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Housing Market Analysis and Prediction</dc:title>
  <dc:subject>PptxGenJS Presentation</dc:subject>
  <dc:creator>Ayoub Naouech &amp; Rayen Belhadj</dc:creator>
  <cp:lastModifiedBy>Ayoub Naouech &amp; Rayen Belhadj</cp:lastModifiedBy>
  <cp:revision>1</cp:revision>
  <dcterms:created xsi:type="dcterms:W3CDTF">2026-05-01T18:28:57Z</dcterms:created>
  <dcterms:modified xsi:type="dcterms:W3CDTF">2026-05-01T18:28:57Z</dcterms:modified>
</cp:coreProperties>
</file>