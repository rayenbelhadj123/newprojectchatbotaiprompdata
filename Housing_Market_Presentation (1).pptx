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BF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Ridge</c:v>
                  </c:pt>
                  <c:pt idx="1">
                    <c:v>RandomForest</c:v>
                  </c:pt>
                  <c:pt idx="2">
                    <c:v>GradientBoosting</c:v>
                  </c:pt>
                  <c:pt idx="3">
                    <c:v>LinearRegr.</c:v>
                  </c:pt>
                  <c:pt idx="4">
                    <c:v>KNN</c:v>
                  </c:pt>
                  <c:pt idx="5">
                    <c:v>SVR</c:v>
                  </c:pt>
                  <c:pt idx="6">
                    <c:v>DecisionTree</c:v>
                  </c:pt>
                  <c:pt idx="7">
                    <c:v>NeuralNet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0.85</c:v>
                </c:pt>
                <c:pt idx="1">
                  <c:v>0.92</c:v>
                </c:pt>
                <c:pt idx="2">
                  <c:v>0.9</c:v>
                </c:pt>
                <c:pt idx="3">
                  <c:v>0.78</c:v>
                </c:pt>
                <c:pt idx="4">
                  <c:v>0.72</c:v>
                </c:pt>
                <c:pt idx="5">
                  <c:v>0.68</c:v>
                </c:pt>
                <c:pt idx="6">
                  <c:v>0.74</c:v>
                </c:pt>
                <c:pt idx="7">
                  <c:v>0.71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6"/>
          <c:min val="0.5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BB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BF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RandomForest</c:v>
                  </c:pt>
                  <c:pt idx="1">
                    <c:v>LogisticReg.</c:v>
                  </c:pt>
                  <c:pt idx="2">
                    <c:v>DecisionTree</c:v>
                  </c:pt>
                  <c:pt idx="3">
                    <c:v>KNN</c:v>
                  </c:pt>
                  <c:pt idx="4">
                    <c:v>NeuralNetwork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0.89</c:v>
                </c:pt>
                <c:pt idx="1">
                  <c:v>0.82</c:v>
                </c:pt>
                <c:pt idx="2">
                  <c:v>0.78</c:v>
                </c:pt>
                <c:pt idx="3">
                  <c:v>0.75</c:v>
                </c:pt>
                <c:pt idx="4">
                  <c:v>0.73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HPI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185</c:v>
                </c:pt>
                <c:pt idx="1">
                  <c:v>192</c:v>
                </c:pt>
                <c:pt idx="2">
                  <c:v>198</c:v>
                </c:pt>
                <c:pt idx="3">
                  <c:v>210</c:v>
                </c:pt>
                <c:pt idx="4">
                  <c:v>218</c:v>
                </c:pt>
                <c:pt idx="5">
                  <c:v>225</c:v>
                </c:pt>
                <c:pt idx="6">
                  <c:v>234</c:v>
                </c:pt>
                <c:pt idx="7">
                  <c:v>242</c:v>
                </c:pt>
                <c:pt idx="8">
                  <c:v>256</c:v>
                </c:pt>
                <c:pt idx="9">
                  <c:v>270</c:v>
                </c:pt>
                <c:pt idx="10">
                  <c:v>285</c:v>
                </c:pt>
                <c:pt idx="11">
                  <c:v>296</c:v>
                </c:pt>
                <c:pt idx="12">
                  <c:v>305</c:v>
                </c:pt>
                <c:pt idx="13">
                  <c:v>312</c:v>
                </c:pt>
                <c:pt idx="14">
                  <c:v>318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3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3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164592" cy="310896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IT Business School · Tunisia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206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Data Mining &amp; Machine Learning  ·  2025–2026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5A73"/>
                </a:solidFill>
              </a:rPr>
              <a:t>Supervisor: Kaouether Ben Ali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Housing Market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Prediction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A6C8"/>
                </a:solidFill>
              </a:rPr>
              <a:t>Using Data Mining and Machine Learning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971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1FB"/>
                </a:solidFill>
              </a:rPr>
              <a:t>Ayoub Naouech  ·  Rayen Belhadj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Observations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6888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20yr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Timespan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160520"/>
            <a:ext cx="1828800" cy="77724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4206240"/>
            <a:ext cx="182880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75120" y="4626864"/>
            <a:ext cx="1828800" cy="27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Best R²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4160520"/>
            <a:ext cx="1828800" cy="777240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43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Motivation &amp;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472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housing markets matter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143000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143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40680" y="1197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Dataset &amp; 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472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 years, 242 observations, 27 variables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901952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019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CRISP-DM Methodology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231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 6-phase data science workflow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1901952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901952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9019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231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Cleaning, engineering, and feature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660904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60904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26609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Supervised Learning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Ridge, RandomForest, and 6 other models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660904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60904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6609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Unsupervised Learning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0680" y="2990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KMeans, PCA, DBSCAN, IsolationForest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419856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19856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419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Reinforcement Learning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Q-Learning market-policy simulation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419856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419856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74336" y="3419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OLAP &amp; Forecasting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Segment intelligence and future prediction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178808"/>
            <a:ext cx="42062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178808"/>
            <a:ext cx="54864" cy="64008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" y="4178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012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22-page Streamlit Intelligence Platform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4178808"/>
            <a:ext cx="42062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4178808"/>
            <a:ext cx="54864" cy="64008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74336" y="4178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4068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Findings &amp; Conclusion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40680" y="4507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Theory, evidence, and implications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Housing Markets?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E8F1FB"/>
                </a:solidFill>
              </a:rPr>
              <a:t>"The U.S. housing market is a cornerstone of national economic health, sensitive to inflation, unemployment, mortgage conditions, and interest-rate policy — yet no single model captures its full complexity."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Market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5877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Non-linear interactions between macro variables across 20+ years of boom-bust cycles cannot be captured by simple econometric models.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3134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313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Stakeholder Need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258775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Analysts, institutions, policymakers, and researchers need accessible, data-driven tools to understand price dynamics.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Research 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9136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Most studies examine one or two variables; this project combines macro, behavioral, and policy indicators simultaneously.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639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ML Opportunity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391363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Modern ML methods (ensembles, clustering, RL) can outperform traditional OLS regression on complex, non-stationary time series.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2004–2024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Time Span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6596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Rows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196596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Columns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00584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05840"/>
            <a:ext cx="196596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1155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618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Engineered Features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48840"/>
            <a:ext cx="54864" cy="129844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Housing Indicators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" y="247802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Home Price Index (HPI)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New Housing Permits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Existing Home Sales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Housing Starts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48840"/>
            <a:ext cx="54864" cy="129844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212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Macro / Economy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82896" y="247802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Real GDP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Median Household Income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CPI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Federal Funds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5661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66160"/>
            <a:ext cx="54864" cy="129844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Mortgage &amp; Credit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" y="389534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Mortgage Rate (30yr)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Income-to-Mortgage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CPI-to-Interest Ratio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Consumer Credit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566160"/>
            <a:ext cx="54864" cy="129844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Labor &amp; Sentiment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2896" y="389534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Unemployment Rate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Consumer Sentiment (UMICH)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3-mo Rolling Unemployment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Participation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Primary sources: FRED, NAR, U.S. Census Bureau, Freddie Mac, University of Michigan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Business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Define housing prediction objective, identify stakeholder needs, set success criteria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Data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Explore 27 features, correlation profiling, distribution analysis, quality checks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20700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1216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Lag features, rolling means, imputation, period labeling, affordability ratios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Modeling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Ridge, RF, GB, SVR, KNN, MLP for regression &amp; classification; KMeans, PCA, 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MAE · RMSE · R² · Accuracy · F1 · AUC · Feature importance · Theory checks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97480" cy="17190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081528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3090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F1FB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566160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Streamlit dashboard: 22 pages, OLAP cube, chatbot, governance, export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Cleaning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Engineered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527048"/>
            <a:ext cx="201168" cy="201168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990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HPI_lag1 / HPI_lag3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 autoregression — captures housing momentum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112264"/>
            <a:ext cx="201168" cy="201168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Unemployment_roll3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2311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3-month rolling mean — smooths seasonal noise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97480"/>
            <a:ext cx="201168" cy="201168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694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Income_to_Mortgage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28163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Affordability ratio — strongest non-leaky predictor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3282696"/>
            <a:ext cx="201168" cy="201168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546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CPI_to_Interest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Macro pressure index — inflation vs. rate dynamics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867912"/>
            <a:ext cx="201168" cy="201168"/>
          </a:xfrm>
          <a:prstGeom prst="ellipse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7398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HPI_pct_change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986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Momentum signal — rate of price acceleration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453128"/>
            <a:ext cx="201168" cy="201168"/>
          </a:xfrm>
          <a:prstGeom prst="ellipse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251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Administration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45720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Political-period label — groups by presidency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Top Correlations with HPI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38988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426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Income-to-Mortgage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682496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682496"/>
            <a:ext cx="2551176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4264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+0.93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97510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Median Income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2267712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267712"/>
            <a:ext cx="2441448" cy="128016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0116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+0.89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56032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Consumer Sentiment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852928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2852928"/>
            <a:ext cx="2029968" cy="128016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59689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+0.74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314553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Unemployment Rate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438144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438144"/>
            <a:ext cx="1700784" cy="128016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18211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37A"/>
                </a:solidFill>
              </a:rPr>
              <a:t>-0.62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73075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767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Mortgage Rate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023360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4023360"/>
            <a:ext cx="1207008" cy="128016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35240" y="376732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37A"/>
                </a:solidFill>
              </a:rPr>
              <a:t>-0.44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431596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3525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Federal Funds Rate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4608576"/>
            <a:ext cx="2743200" cy="128016"/>
          </a:xfrm>
          <a:prstGeom prst="rect">
            <a:avLst/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46320" y="4608576"/>
            <a:ext cx="1042416" cy="128016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435254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37A"/>
                </a:solidFill>
              </a:rPr>
              <a:t>-0.38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SUPERVISED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0A832"/>
                </a:solidFill>
              </a:rPr>
              <a:t>Ridge Regression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Linear / Regression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L₂-regularized baseline. Stable under multicollinearity. Interpretable coefficients.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0.85 | MAE 2.50 | RMSE 3.20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024128"/>
            <a:ext cx="2011680" cy="3657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0789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BFA9"/>
                </a:solidFill>
              </a:rPr>
              <a:t>★ BEST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060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BBFA9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Ensemble / Regression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300 decorrelated decision trees. Captures non-linear interactions. Built-in feature importance.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R² 0.92 | MAE 1.80 | RMSE 2.40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4CB8E0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Ensemble / Regression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Sequential error correction. Combines weak learners into a strong predictor.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0.90 | MAE 2.10 | RMSE 2.65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2280" y="102412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7FA6C8"/>
                </a:solidFill>
              </a:rPr>
              <a:t>Linear Regression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03720" y="1444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Linear / Baseline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1645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OLS baseline for comparison. Fully interpretable coefficients.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245059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0.78 | MAE 3.10 | RMSE 4.20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K-Nearest Neighbors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Instance-based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Uses historical nearest observations. Sensitive to feature scaling.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0.72 | MAE 3.50 | RMSE 4.80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60604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Support Vector Regressor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0604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Kernel / Non-linear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604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RBF kernel for non-linear boundary. Sensitive to C and epsilon hyperparameters.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0604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0.68 | MAE 3.80 | RMSE 5.10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5488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Decision Tree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5488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Tree / Regression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Single tree with min-leaf constraint. Fast to explain but prone to overfit.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0.74 | MAE 3.20 | RMSE 4.55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12280" y="2990088"/>
            <a:ext cx="2011680" cy="18288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03720" y="3081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D5A73"/>
                </a:solidFill>
              </a:rPr>
              <a:t>Neural Network (MLP)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03720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D5A73"/>
                </a:solidFill>
              </a:rPr>
              <a:t>Deep / Non-linear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03720" y="3611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7FA6C8"/>
                </a:solidFill>
              </a:rPr>
              <a:t>Two hidden layers (64, 32). Early stopping. Tested for complex pattern capture.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03720" y="4416552"/>
            <a:ext cx="1828800" cy="292608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4416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6C8"/>
                </a:solidFill>
              </a:rPr>
              <a:t>R² 0.71 | MAE 3.60 | RMSE 5.0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MODEL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Comparison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005840"/>
            <a:ext cx="2468880" cy="384048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8368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Winner: RandomForest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389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0.92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583680" y="1828800"/>
            <a:ext cx="2286000" cy="4572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828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MAE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26680" y="18288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1.80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2359152"/>
            <a:ext cx="2286000" cy="4572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3591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RMSE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26680" y="235915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2.40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0" y="2889504"/>
            <a:ext cx="2286000" cy="4572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8895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Trees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26680" y="28895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300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3419856"/>
            <a:ext cx="2286000" cy="4572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4198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Split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26680" y="34198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80/20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Non-linear interactions between macro variables explain the RF advantage over Ridge.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EXPLAINABILITY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HPI_lag1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1188720"/>
            <a:ext cx="1911096" cy="256032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0972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BFA9"/>
                </a:solidFill>
              </a:rPr>
              <a:t>38%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Income_to_Mortgage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709928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709928"/>
            <a:ext cx="1106424" cy="256032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184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A832"/>
                </a:solidFill>
              </a:rPr>
              <a:t>22%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1396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Median_Income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231136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231136"/>
            <a:ext cx="704088" cy="256032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3969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B8E0"/>
                </a:solidFill>
              </a:rPr>
              <a:t>14%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60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HPI_lag3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17520" y="2752344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752344"/>
            <a:ext cx="502920" cy="256032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66090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4"/>
                </a:solidFill>
              </a:rPr>
              <a:t>10%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82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Consumer_Sentiment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17520" y="3273552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273552"/>
            <a:ext cx="352044" cy="256032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18211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637A"/>
                </a:solidFill>
              </a:rPr>
              <a:t>7%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Unemployment_roll3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3794760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3794760"/>
            <a:ext cx="251460" cy="256032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3703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C8"/>
                </a:solidFill>
              </a:rPr>
              <a:t>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245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F1FB"/>
                </a:solidFill>
              </a:rPr>
              <a:t>Mortgage_Rate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17520" y="4315968"/>
            <a:ext cx="5029200" cy="256032"/>
          </a:xfrm>
          <a:prstGeom prst="rect">
            <a:avLst/>
          </a:prstGeom>
          <a:solidFill>
            <a:srgbClr val="16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4315968"/>
            <a:ext cx="201168" cy="256032"/>
          </a:xfrm>
          <a:prstGeom prst="rect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42245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5A73"/>
                </a:solidFill>
              </a:rPr>
              <a:t>4%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402336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BFA9"/>
                </a:solidFill>
              </a:rPr>
              <a:t>HPI_lag1 confirms: housing has strong momentum across months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663440"/>
            <a:ext cx="402336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832"/>
                </a:solidFill>
              </a:rPr>
              <a:t>Income_to_Mortgage: affordability drives prices more than rates alone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Task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target (Home Price Index) was binned into Low / Medium / High using training-set quantiles (80/20 chronological split). Five classifiers were evaluated.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1732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417320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064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Accuracy · RandomForest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313432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2313432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59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06440" y="27066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F1 · RandomForest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3209544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209544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32552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806440" y="3602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Best AUC · RandomForest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4105656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4105656"/>
            <a:ext cx="54864" cy="77724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4151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806440" y="4498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Classes · Low / Med / High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Key takeaway: RandomForest correctly identifies market regime (Low/Med/High) 90% of the time — useful for policymakers and institutional investors.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UNSUPERVISED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914400" cy="292608"/>
          </a:xfrm>
          <a:prstGeom prst="rect">
            <a:avLst/>
          </a:prstGeom>
          <a:solidFill>
            <a:srgbClr val="1BBFA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K-MEANS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Market Regime Clustering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A9"/>
                </a:solidFill>
              </a:rPr>
              <a:t>3 distinct market regimes identified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High-rate stress periods (2022–24)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Low-rate expansion cycles (2013–19)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Crisis/transition windows (2008–12, 2020)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115568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BFA9"/>
                </a:solidFill>
              </a:rPr>
              <a:t>Silhouette: 0.42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24128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24128"/>
            <a:ext cx="914400" cy="292608"/>
          </a:xfrm>
          <a:prstGeom prst="rect">
            <a:avLst/>
          </a:prstGeom>
          <a:solidFill>
            <a:srgbClr val="4CB8E0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024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B8E0"/>
                </a:solidFill>
              </a:rPr>
              <a:t>PCA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Dimensionality Reduction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1627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B8E0"/>
                </a:solidFill>
              </a:rPr>
              <a:t>~70% variance in first 2 PCs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1883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PC1 ~ affordability &amp; income pressure axis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21305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PC2 ~ rate shock &amp; volatility axis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Macro behavior is compressible into 2 key signals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0" y="1115568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115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B8E0"/>
                </a:solidFill>
              </a:rPr>
              <a:t>PC1 explains 48%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054096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54096"/>
            <a:ext cx="914400" cy="292608"/>
          </a:xfrm>
          <a:prstGeom prst="rect">
            <a:avLst/>
          </a:prstGeom>
          <a:solidFill>
            <a:srgbClr val="F0A83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832"/>
                </a:solidFill>
              </a:rPr>
              <a:t>DBSCAN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Density-Based Segmentation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32"/>
                </a:solidFill>
              </a:rPr>
              <a:t>3 dense groups + noise periods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3913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Robust without pre-specifying 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4160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Noise = 2008, 2020, 2022 spikes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4407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Identifies natural market boundaries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0" y="3145536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31455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A832"/>
                </a:solidFill>
              </a:rPr>
              <a:t>12 noise outliers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206240" cy="190195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054096"/>
            <a:ext cx="914400" cy="292608"/>
          </a:xfrm>
          <a:prstGeom prst="rect">
            <a:avLst/>
          </a:prstGeom>
          <a:solidFill>
            <a:srgbClr val="E8637A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37A"/>
                </a:solidFill>
              </a:rPr>
              <a:t>ISOLATION FOREST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64608" y="3401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1FB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3657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7A"/>
                </a:solidFill>
              </a:rPr>
              <a:t>14 anomalous months flagged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913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Flags 2008–09 financial crisis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4160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2020 pandemic shock months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407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• 2022 rate-shock outliers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3145536"/>
            <a:ext cx="1554480" cy="21945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1455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637A"/>
                </a:solidFill>
              </a:rPr>
              <a:t>5% contamination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REINFORCEMENT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Market Simulation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BBFA9"/>
                </a:solidFill>
              </a:rPr>
              <a:t>STATE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Condition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Rising / Flat / Falling HPI momentum combined with macro signal level (Low/Med/High)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24128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0A832"/>
                </a:solidFill>
              </a:rPr>
              <a:t>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Buy/Overweight  ·  Hold/Neutral  ·  Wait/Underweight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024128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24128"/>
            <a:ext cx="26974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0972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37A"/>
                </a:solidFill>
              </a:rPr>
              <a:t>REWARD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Signal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Positive when action aligns with next price movement; penalized for volatility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Training Parameters &amp;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20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Episodes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35204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250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67328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7673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0.18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14216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14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60320" y="401421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BFA9"/>
                </a:solidFill>
              </a:rPr>
              <a:t>0.88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61104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61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Initial Epsilon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0" y="4261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832"/>
                </a:solidFill>
              </a:rPr>
              <a:t>0.35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07992"/>
            <a:ext cx="420624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07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Risk Penalty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60320" y="4507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832"/>
                </a:solidFill>
              </a:rPr>
              <a:t>1.0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42062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548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Best Action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60320" y="4754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637A"/>
                </a:solidFill>
              </a:rPr>
              <a:t>Buy/OW (Rising × Low signal)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182112"/>
            <a:ext cx="402336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246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Educational RL Insight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354787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Unlike supervised ML (predict a value) and unsupervised learning (find groups), reinforcement learning learns a DECISION POLICY through repeated interaction.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The agent discovers that "Rising market + Low macro signal" is the state where buying/overweighting is most consistently rewarded across 250 training episodes.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⚠️ This is an educational simulation, not financial advice.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OLAP 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Cube &amp; Segmentation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114800" cy="39319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FA9"/>
                </a:solidFill>
              </a:rPr>
              <a:t>3D OLAP Block Cube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Three dimensions cross-cut the dataset simultaneously: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Administration Period (X)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Calendar Year (Y)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• Market Quarter (Z)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Each 3D block represents the aggregated Home Price Index for that combination of period, year, and quarter.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1FB"/>
                </a:solidFill>
              </a:rPr>
              <a:t>Example Pivot: Mean HPI by Administration × Year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Period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07592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7592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2019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12264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16936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21608" y="361188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61188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2022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Pre-Trump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07592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12264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2264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16936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16936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21608" y="388620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38862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Trump 17-20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307592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210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12264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12264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218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16936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6936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21608" y="4160520"/>
            <a:ext cx="786384" cy="256032"/>
          </a:xfrm>
          <a:prstGeom prst="rect">
            <a:avLst/>
          </a:prstGeom>
          <a:solidFill>
            <a:srgbClr val="162A40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416052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2920" y="4434840"/>
            <a:ext cx="786384" cy="256032"/>
          </a:xfrm>
          <a:prstGeom prst="rect">
            <a:avLst/>
          </a:prstGeom>
          <a:solidFill>
            <a:srgbClr val="0D9484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Biden 21-24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07592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7592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12264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12264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16936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16936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296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21608" y="4434840"/>
            <a:ext cx="786384" cy="256032"/>
          </a:xfrm>
          <a:prstGeom prst="rect">
            <a:avLst/>
          </a:prstGeom>
          <a:solidFill>
            <a:srgbClr val="07111F"/>
          </a:solidFill>
          <a:ln w="6350">
            <a:solidFill>
              <a:srgbClr val="3D5A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21608" y="443484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1FB"/>
                </a:solidFill>
              </a:rPr>
              <a:t>312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102412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00600" y="1078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A9"/>
                </a:solidFill>
              </a:rPr>
              <a:t>Biden (2021–24)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0600" y="1316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629400" y="13167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1719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Highest average home price index — driven by low-rate era demand surge then supply constraints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35000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00600" y="2404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832"/>
                </a:solidFill>
              </a:rPr>
              <a:t>Trump (2017–20)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00600" y="26426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218.6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6629400" y="26426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0600" y="3044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Moderate growth with stable mortgage conditions before pandemic shock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675888"/>
            <a:ext cx="4114800" cy="12070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0060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7A"/>
                </a:solidFill>
              </a:rPr>
              <a:t>Pre-Trump (2004–16)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3968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162.3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629400" y="39684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Mean HPI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0060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Boom, crisis, and long recovery cycle — most volatile period in the dataset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4114800"/>
            <a:ext cx="4114800" cy="822960"/>
          </a:xfrm>
          <a:prstGeom prst="rect">
            <a:avLst/>
          </a:prstGeom>
          <a:solidFill>
            <a:srgbClr val="162A40"/>
          </a:solidFill>
          <a:ln w="9525">
            <a:solidFill>
              <a:srgbClr val="1BBFA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415137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OLAP Key Insight: Biden-era HPI is 43% higher than Trump-era mean. Supply constraints during 2022–24 rate shock maintained price levels despite affordability pressure.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FORECASTING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Housing Price Forecast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24128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315968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Lag Features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HPI_lag1, lag3, lag6, lag12 + rolling means feed recursive prediction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4315968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Recursive Strategy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Each prediction becomes the input for the next step (multi-step chain)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4315968"/>
            <a:ext cx="2697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4315968"/>
            <a:ext cx="269748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43891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7 Models Tested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26480" y="46085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Ridge is most stable for long horizon; RF for shorter-term accuracy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504748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Forecast is a scenario tool — not guaranteed future truth. Best used alongside theory, OLAP, and evaluation evidence.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Intelligence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Start Here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51560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Overview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Explore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05156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12280" y="1051560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051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Quality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719072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Compare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1719072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4261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ML Lab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719072"/>
            <a:ext cx="54864" cy="56692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Evaluation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12280" y="1719072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1719072"/>
            <a:ext cx="54864" cy="566928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0296" y="17190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Unsupervised Lab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386584"/>
            <a:ext cx="54864" cy="566928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Reinforcement Lab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1460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2386584"/>
            <a:ext cx="54864" cy="566928"/>
          </a:xfrm>
          <a:prstGeom prst="rect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Forecast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386584"/>
            <a:ext cx="54864" cy="566928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Conclusion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12280" y="2386584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2386584"/>
            <a:ext cx="54864" cy="566928"/>
          </a:xfrm>
          <a:prstGeom prst="rect">
            <a:avLst/>
          </a:prstGeom>
          <a:solidFill>
            <a:srgbClr val="7FA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3865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Paper Review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054096"/>
            <a:ext cx="54864" cy="566928"/>
          </a:xfrm>
          <a:prstGeom prst="rect">
            <a:avLst/>
          </a:prstGeom>
          <a:solidFill>
            <a:srgbClr val="3D5A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Code Lab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1460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14600" y="3054096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4261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OLAP &amp; Export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3054096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Exec. Summary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12280" y="3054096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12280" y="3054096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Dictionary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3721608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Scenario Sim.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1460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14600" y="3721608"/>
            <a:ext cx="54864" cy="566928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Prod. Readiness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6344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63440" y="3721608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9145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Experiment Tracker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12280" y="3721608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812280" y="3721608"/>
            <a:ext cx="54864" cy="566928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0296" y="3721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Model Registry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438912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65760" y="4389120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3776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Data Pipeline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14600" y="4389120"/>
            <a:ext cx="2011680" cy="56692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514600" y="4389120"/>
            <a:ext cx="54864" cy="566928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42616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1FB"/>
                </a:solidFill>
              </a:rPr>
              <a:t>Business Impact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5047488"/>
            <a:ext cx="8412480" cy="43891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57200" y="50840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22 interactive pages  ·  Dark/Light mode  ·  AI Chatbot (OpenAI + local fallback)  ·  Download-ready reports  ·  Model Registry &amp; Governance  ·  OLAP 3D Cube  ·  Scenario Simulator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DASHBOARD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Capability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20116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Data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02996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EDA &amp; Time-Series Charts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68833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Correlation Matrix (zoom)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3346704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Data Quality Checks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4005072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Data Dictionary (27 cols)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024128"/>
            <a:ext cx="20116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60604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2029968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8 Regression Models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24328" y="26883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5 Classifier Models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24328" y="334670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Feature Importance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24328" y="4005072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0720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Cross-Validation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024128"/>
            <a:ext cx="201168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Advanced Analytics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029968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KMeans / DBSCAN / PCA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268833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IsolationForest Anomalies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346704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Q-Learning Simulation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73168" y="400507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Multi-step Forecasting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12280" y="1024128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12280" y="1024128"/>
            <a:ext cx="20116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9037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Governance &amp; BI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95160" y="1938528"/>
            <a:ext cx="1645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22008" y="2029968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04888" y="198424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3D OLAP Block Cube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22008" y="268833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04888" y="264261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Model Registry &amp; Card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22008" y="3346704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04888" y="330098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Drift Monitoring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22008" y="4005072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04888" y="395935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Experiment Tracker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AI Chatbot (OpenAI + local fallback)  ·  Scenario Simulator  ·  Downloadable Executive Report  ·  Business Impact Translator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THEORY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DiPasquale-Wheaton Theory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FA6C8"/>
                </a:solidFill>
              </a:rPr>
              <a:t>The DiPasquale-Wheaton four-quadrant model links real-estate prices to asset markets, rental demand, construction output, and property stock adjustment. We test four core relationships: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73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Affordability 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Higher mortgage / interest rates → lower HPI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938528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938528"/>
            <a:ext cx="1207008" cy="128016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470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7A"/>
                </a:solidFill>
              </a:rPr>
              <a:t>-0.44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1883664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8836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SUPPORTS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Income-Demand Theory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889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Stronger income / GDP → higher HPI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2743200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743200"/>
            <a:ext cx="2441448" cy="128016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</a:rPr>
              <a:t>+0.89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89520" y="2688336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STRONGLY SUPPORTS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Labor-Market Theory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941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Higher unemployment → lower HPI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31920" y="3547872"/>
            <a:ext cx="2743200" cy="128016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3547872"/>
            <a:ext cx="1700784" cy="128016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4564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7A"/>
                </a:solidFill>
              </a:rPr>
              <a:t>-0.62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3493008"/>
            <a:ext cx="1097280" cy="384048"/>
          </a:xfrm>
          <a:prstGeom prst="rect">
            <a:avLst/>
          </a:prstGeom>
          <a:solidFill>
            <a:srgbClr val="1BBFA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BFA9"/>
                </a:solidFill>
              </a:rPr>
              <a:t>SUPPORTS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1FB"/>
                </a:solidFill>
              </a:rPr>
              <a:t>Supply-Demand Theory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498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6C8"/>
                </a:solidFill>
              </a:rPr>
              <a:t>More inventory → lower price pressure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4297680"/>
            <a:ext cx="1097280" cy="384048"/>
          </a:xfrm>
          <a:prstGeom prst="rect">
            <a:avLst/>
          </a:prstGeom>
          <a:solidFill>
            <a:srgbClr val="E8637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976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637A"/>
                </a:solidFill>
              </a:rPr>
              <a:t>MISSING FEATURE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4956048"/>
            <a:ext cx="8412480" cy="36576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992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Result: 3 of 4 DiPasquale-Wheaton checks align with theory. Supply constraints explain HPI resilience during 2022–24 rate shock — where simple affordability theory predicted decline.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HISTORICAL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Period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Pre-Crisis Boom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2004–2006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04241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Easy credit, high demand, rapid price acceleration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0" y="1042416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+18.2%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69480" y="1078992"/>
            <a:ext cx="141732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07899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Matches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10512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Financial Crisis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2007–2012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184708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Credit crunch, foreclosures, demand collapse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184708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−28.5%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9480" y="1883664"/>
            <a:ext cx="141732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88366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Matches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15184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Recovery &amp; Expansion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2013–2019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265176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Improving labor market, income growth, low rates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2651760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+47.3%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69480" y="2688336"/>
            <a:ext cx="141732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68833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Matches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419856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19856"/>
            <a:ext cx="54864" cy="73152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456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Pandemic Demand Shock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2020–2021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345643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Remote work shift, low rates, tight supply surge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52160" y="3456432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+31.1%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69480" y="3493008"/>
            <a:ext cx="1417320" cy="493776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49300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Matches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224528"/>
            <a:ext cx="54864" cy="73152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61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High-Rate Affordability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2022–2024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26110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Rates rose sharply but inventory constraints kept prices elevated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4261104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+4.2%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269480" y="4297680"/>
            <a:ext cx="1417320" cy="493776"/>
          </a:xfrm>
          <a:prstGeom prst="rect">
            <a:avLst/>
          </a:prstGeom>
          <a:solidFill>
            <a:srgbClr val="FEF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42976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A8A04"/>
                </a:solidFill>
              </a:rPr>
              <a:t>Consistent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029200"/>
            <a:ext cx="84124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065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BFA9"/>
                </a:solidFill>
              </a:rPr>
              <a:t>4 of 5 periods match historical expectations. The 2022–24 exception shows that supply constraints can override simple affordability theory — a key project insight.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PRODUCTION READINESS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Governance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FA9"/>
                </a:solidFill>
              </a:rPr>
              <a:t>✅  Data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81912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536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Row count verification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Duplicate detection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07568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Missing data profiling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Infinite value check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69464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Date column detection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B8E0"/>
                </a:solidFill>
              </a:rPr>
              <a:t>📡  Drift Monitoring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58191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15361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Baseline vs recent split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1828800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84064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Mean shift % per feature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2075688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Z-score drift alert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32257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High/Moderate/Stable labels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569464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2523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Auto-flagged review candidates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832"/>
                </a:solidFill>
              </a:rPr>
              <a:t>📋  Model Card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593592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Intended use statement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794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Performance metrics logged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4087368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Limitation documentation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33425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288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Governance recommendation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58114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4535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Download-ready Markdown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063240"/>
            <a:ext cx="4206240" cy="1874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7A"/>
                </a:solidFill>
              </a:rPr>
              <a:t>🧪  Experiment Tracker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92040" y="3593592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Run ID &amp; timestamp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3840480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84064" y="37947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Model, target, features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92040" y="4087368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All metric columns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433425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4288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Champion selection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4581144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84064" y="4535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6C8"/>
                </a:solidFill>
              </a:rPr>
              <a:t>CSV export for audit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4956048"/>
            <a:ext cx="841248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02920" y="4992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This project includes not just analytics — it adds validation, monitoring, explainability, scenario testing, and full documentation, matching enterprise data science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SCENARIO SIMULATOR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Scenario Simulator changes one macro feature at a time and estimates how the trained regression model responds. Useful for explaining sensitivity to stakeholders.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269748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+10% Median Income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Median_Income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318.2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" y="2779776"/>
            <a:ext cx="2468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+5.8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 10% income rise pushes predicted HPI up ~5.8 points. Affordability improves when income grows faster than rates.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44752"/>
            <a:ext cx="269748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+2pt Mortgage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Mortgage_Rate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305.1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310128" y="2779776"/>
            <a:ext cx="246888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−7.3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012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A 2-point rate hike reduces predicted HPI by ~7.3. Larger than income effect, showing rate sensitivity.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1444752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444752"/>
            <a:ext cx="269748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15361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−5% Unemployment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44768" y="18653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Feature: Unemployment_Rate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44768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312.4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452360" y="21488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Scenario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23500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316.8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144768" y="2779776"/>
            <a:ext cx="24688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+4.4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44768" y="3236976"/>
            <a:ext cx="2468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Falling unemployment supports HPI through stronger demand — aligns with DiPasquale-Wheaton labor theory.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50292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All scenarios use the trained Ridge regression model on the most recent observation. Results are directional estimates, not causal predictions.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&amp; Real-Life Benchmarking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54864" cy="91440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BFA9"/>
                </a:solidFill>
              </a:rPr>
              <a:t>DiPasquale &amp; Wheaton (2015)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Four-quadrant framework: prices connect to demand, asset markets, construction, and supply adjustment.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3/4 theory checks supported; supply constraints explain 2022–24 resilience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1325880" cy="384048"/>
          </a:xfrm>
          <a:prstGeom prst="rect">
            <a:avLst/>
          </a:prstGeom>
          <a:solidFill>
            <a:srgbClr val="1BBFA9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Confirms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29968"/>
            <a:ext cx="54864" cy="914400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BFA9"/>
                </a:solidFill>
              </a:rPr>
              <a:t>Journal of Housing Economics (2025)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34086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Mortgage-rate shocks have measurable effects on housing activity, sometimes larger than on prices.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59689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Rate correlation: −0.44; RF model uses rate as 5th most important feature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2286000"/>
            <a:ext cx="1325880" cy="384048"/>
          </a:xfrm>
          <a:prstGeom prst="rect">
            <a:avLst/>
          </a:prstGeom>
          <a:solidFill>
            <a:srgbClr val="1BBFA9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2860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Confirms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35808"/>
            <a:ext cx="54864" cy="91440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90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832"/>
                </a:solidFill>
              </a:rPr>
              <a:t>NAR Existing-Home Sales (March 2026)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3467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Sales fell 3.6% MoM; median price +1.4% YoY to $408,800; inventory 4.1 months.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60273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Dataset shows HPI positive but slowing — consistent with soft-landing narrative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3291840"/>
            <a:ext cx="1325880" cy="384048"/>
          </a:xfrm>
          <a:prstGeom prst="rect">
            <a:avLst/>
          </a:prstGeom>
          <a:solidFill>
            <a:srgbClr val="F0A83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Consistent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841248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41648"/>
            <a:ext cx="54864" cy="914400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96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832"/>
                </a:solidFill>
              </a:rPr>
              <a:t>FRED Case-Shiller Index (Jan 2026)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Claim: National home price index at 326.6 — near all-time highs despite rate environment.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60857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1FB"/>
                </a:solidFill>
              </a:rPr>
              <a:t>Our result: HPI positive trend maintained through 2024 in our dataset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4297680"/>
            <a:ext cx="1325880" cy="384048"/>
          </a:xfrm>
          <a:prstGeom prst="rect">
            <a:avLst/>
          </a:prstGeom>
          <a:solidFill>
            <a:srgbClr val="F0A832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297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Consistent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5029200"/>
            <a:ext cx="8412480" cy="347472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5065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Conclusion: the dataset broadly aligns with current academic research and real 2026 market data — a positive project result.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Stakeholder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24128"/>
            <a:ext cx="420624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15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Analysts &amp; Economists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71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A9"/>
                </a:solidFill>
              </a:rPr>
              <a:t>Quantify macro drivers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7393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Correlation matrix identifies key signals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13969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Feature importance explains model logic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450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Theory checks validate assumptions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0241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24128"/>
            <a:ext cx="4206240" cy="54864"/>
          </a:xfrm>
          <a:prstGeom prst="rect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11155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Institutional Investors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3248" y="13716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832"/>
                </a:solidFill>
              </a:rPr>
              <a:t>Regime-aware decisions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459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17739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4064" y="1719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KMeans identifies 3 market regimes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13969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0848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RL simulation learns best policy per state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50545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2450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OLAP segments by period and geography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0815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81528"/>
            <a:ext cx="4206240" cy="54864"/>
          </a:xfrm>
          <a:prstGeom prst="rect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24128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Policymakers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429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B8E0"/>
                </a:solidFill>
              </a:rPr>
              <a:t>Affordability monitoring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7033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83133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3776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Income-to-Mortgage ratio 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19709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Scenario simulator for rate impact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4562856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" y="4507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Historical period benchmarking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08152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081528"/>
            <a:ext cx="4206240" cy="54864"/>
          </a:xfrm>
          <a:prstGeom prst="rect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172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413248" y="3172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Project Evaluators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13248" y="34290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7A"/>
                </a:solidFill>
              </a:rPr>
              <a:t>Complete DS workflow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703320"/>
            <a:ext cx="393192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92040" y="383133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776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CRISP-DM all 6 phases executed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419709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84064" y="41422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Governance, drift, model card included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4562856"/>
            <a:ext cx="128016" cy="12801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84064" y="4507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Paper review + real-life benchmarking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065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BFA9"/>
                </a:solidFill>
              </a:rPr>
              <a:t>The app turns housing data into a decision-ready signal — connecting data quality, model performance, segment analysis, scenario testing, and real-world theory.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" cy="40233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A9"/>
                </a:solidFill>
              </a:rPr>
              <a:t>Non-linearity wins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3716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Random Forest (R² 0.92) outperforms Ridge (R² 0.85), confirming that non-linear macro interactions drive housing prices beyond what linear models can capture.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93392"/>
            <a:ext cx="402336" cy="40233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1883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832"/>
                </a:solidFill>
              </a:rPr>
              <a:t>Affordability is the strongest driver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1762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Income-to-Mortgage ratio (r = 0.93) is the strongest non-leaky predictor. Prices respond more to affordability constraints than to interest rates alone.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98064"/>
            <a:ext cx="402336" cy="40233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B8E0"/>
                </a:solidFill>
              </a:rPr>
              <a:t>Momentum is essential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2980944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HPI_lag1 dominates feature importance (~38%). Housing prices exhibit strong autocorrelation — past values predict future movement better than any single macro variable.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02736"/>
            <a:ext cx="402336" cy="402336"/>
          </a:xfrm>
          <a:prstGeom prst="ellipse">
            <a:avLst/>
          </a:prstGeom>
          <a:solidFill>
            <a:srgbClr val="E863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37A"/>
                </a:solidFill>
              </a:rPr>
              <a:t>Three market regimes exist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78561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KMeans clustering identifies high-rate stress, low-rate expansion, and crisis/transition periods. The market is not one continuous trend — it has structural phase changes.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42816"/>
            <a:ext cx="8412480" cy="7315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407408"/>
            <a:ext cx="402336" cy="402336"/>
          </a:xfrm>
          <a:prstGeom prst="ellipse">
            <a:avLst/>
          </a:prstGeom>
          <a:solidFill>
            <a:srgbClr val="0D9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4"/>
                </a:solidFill>
              </a:rPr>
              <a:t>Supply constraints override simple theory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59028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FA6C8"/>
                </a:solidFill>
              </a:rPr>
              <a:t>2022–24 HPI stayed positive despite rate shocks. Limited inventory kept prices elevated, challenging a simplistic affordability-only interpretation — 4/5 historical periods match expectations.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National-level only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Geographic heterogeneity across states/cities is not captured — regional markets behave very differently.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Supply feature missing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Housing inventory/supply variable is absent, preventing a complete DiPasquale-Wheaton validation.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63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No causal inference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319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Correlation and ML prediction do not prove causation — observational study limitations apply.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11480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⚠ Static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No live data feed; dataset requires manual update for real-time monitoring.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Future Development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554480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40817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Regional 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16276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State/city level granularity via Zillow, Redfin, or Census micro-datasets.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93852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21408"/>
            <a:ext cx="128016" cy="128016"/>
          </a:xfrm>
          <a:prstGeom prst="ellipse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9751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Live API Integration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21945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FRED, NAR, Census monthly refresh for real-time monitoring.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688336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5420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SHAP Explainability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6048" y="27614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Shapley values for granular per-prediction feature attribution.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07238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255264"/>
            <a:ext cx="128016" cy="128016"/>
          </a:xfrm>
          <a:prstGeom prst="ellipse">
            <a:avLst/>
          </a:prstGeom>
          <a:solidFill>
            <a:srgbClr val="F0A8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1089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ARIMA / LSTM Forecasting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3328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Dedicated time-series models for improved long-horizon accuracy.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822192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6758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Cloud Deployment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3895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Streamlit Cloud or AWS with authentication, persistent DB, monitoring.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420624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389120"/>
            <a:ext cx="128016" cy="128016"/>
          </a:xfrm>
          <a:prstGeom prst="ellipse">
            <a:avLst/>
          </a:prstGeom>
          <a:solidFill>
            <a:srgbClr val="4CB8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2428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Model Drift Alerts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4462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retraining triggers when distribution shift exceeds thresholds.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D1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BF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1BBFA9">
              <a:alpha val="25000"/>
            </a:srgbClr>
          </a:solidFill>
          <a:ln w="12700">
            <a:solidFill>
              <a:srgbClr val="1BBF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BFA9"/>
                </a:solidFill>
              </a:rPr>
              <a:t>CONCLUSION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118872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E8F1FB"/>
                </a:solidFill>
              </a:rPr>
              <a:t>"The U.S. housing market is best explained not by any single theory or model, but by combining affordability, momentum, macro context, market regime clustering, and supply constraints. Classic theory works — but housing markets respond to multiple forces simultaneously, and Machine Learning captures that complexity where econometrics alone falls short."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0.92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Best Model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(RandomForest)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Theory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Checks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Market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Regimes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2880360"/>
            <a:ext cx="1965960" cy="914400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26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Dashboard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7FA6C8"/>
                </a:solidFill>
              </a:rPr>
              <a:t>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8412480" cy="749808"/>
          </a:xfrm>
          <a:prstGeom prst="rect">
            <a:avLst/>
          </a:prstGeom>
          <a:solidFill>
            <a:srgbClr val="162A40"/>
          </a:solidFill>
          <a:ln w="9525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684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1FB"/>
                </a:solidFill>
              </a:rPr>
              <a:t>Ayoub Naouech  ·  Rayen Belhadj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8"/>
                </a:solidFill>
              </a:rPr>
              <a:t>IT Business School · Tunisia  ·  Data Mining &amp; Machine Learning  ·  2025–2026  ·  Supervisor: Kaouether Ben Ali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5A73"/>
                </a:solidFill>
              </a:rPr>
              <a:t>Built with: Python · scikit-learn · Streamlit · Plotly · PptxGenJS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4974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Housing Market Analysis and Prediction</dc:title>
  <dc:subject>PptxGenJS Presentation</dc:subject>
  <dc:creator>Ayoub Naouech &amp; Rayen Belhadj</dc:creator>
  <cp:lastModifiedBy>Ayoub Naouech &amp; Rayen Belhadj</cp:lastModifiedBy>
  <cp:revision>1</cp:revision>
  <dcterms:created xsi:type="dcterms:W3CDTF">2026-05-01T17:30:55Z</dcterms:created>
  <dcterms:modified xsi:type="dcterms:W3CDTF">2026-05-01T17:30:55Z</dcterms:modified>
</cp:coreProperties>
</file>